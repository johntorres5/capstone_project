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60" r:id="rId5"/>
  </p:sldMasterIdLst>
  <p:notesMasterIdLst>
    <p:notesMasterId r:id="rId32"/>
  </p:notesMasterIdLst>
  <p:handoutMasterIdLst>
    <p:handoutMasterId r:id="rId33"/>
  </p:handoutMasterIdLst>
  <p:sldIdLst>
    <p:sldId id="288" r:id="rId6"/>
    <p:sldId id="289" r:id="rId7"/>
    <p:sldId id="259" r:id="rId8"/>
    <p:sldId id="328" r:id="rId9"/>
    <p:sldId id="329" r:id="rId10"/>
    <p:sldId id="260" r:id="rId11"/>
    <p:sldId id="1595" r:id="rId12"/>
    <p:sldId id="487" r:id="rId13"/>
    <p:sldId id="261" r:id="rId14"/>
    <p:sldId id="330" r:id="rId15"/>
    <p:sldId id="331" r:id="rId16"/>
    <p:sldId id="332" r:id="rId17"/>
    <p:sldId id="333" r:id="rId18"/>
    <p:sldId id="1598" r:id="rId19"/>
    <p:sldId id="334" r:id="rId20"/>
    <p:sldId id="335" r:id="rId21"/>
    <p:sldId id="1597" r:id="rId22"/>
    <p:sldId id="1596" r:id="rId23"/>
    <p:sldId id="268" r:id="rId24"/>
    <p:sldId id="280" r:id="rId25"/>
    <p:sldId id="284" r:id="rId26"/>
    <p:sldId id="1605" r:id="rId27"/>
    <p:sldId id="504" r:id="rId28"/>
    <p:sldId id="1593" r:id="rId29"/>
    <p:sldId id="159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0" autoAdjust="0"/>
    <p:restoredTop sz="96247" autoAdjust="0"/>
  </p:normalViewPr>
  <p:slideViewPr>
    <p:cSldViewPr snapToGrid="0" showGuides="1">
      <p:cViewPr varScale="1">
        <p:scale>
          <a:sx n="99" d="100"/>
          <a:sy n="99" d="100"/>
        </p:scale>
        <p:origin x="774" y="30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A22365-A870-49B0-939C-93128996548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F2B3DA08-1EE3-4C3A-B377-A07E9A5D9AB1}">
      <dgm:prSet phldrT="[Text]"/>
      <dgm:spPr/>
      <dgm:t>
        <a:bodyPr/>
        <a:lstStyle/>
        <a:p>
          <a:r>
            <a:rPr lang="en-GB" b="1" i="1" dirty="0"/>
            <a:t>1. Requirements and Specifications</a:t>
          </a:r>
          <a:endParaRPr lang="en-US" dirty="0"/>
        </a:p>
      </dgm:t>
    </dgm:pt>
    <dgm:pt modelId="{82CE068F-6DD7-49A7-BA31-89422E1A6A4C}" type="parTrans" cxnId="{EC5987C5-95EE-45EB-8FA5-9E47ECB600F4}">
      <dgm:prSet/>
      <dgm:spPr/>
      <dgm:t>
        <a:bodyPr/>
        <a:lstStyle/>
        <a:p>
          <a:endParaRPr lang="en-US"/>
        </a:p>
      </dgm:t>
    </dgm:pt>
    <dgm:pt modelId="{573D91C5-9365-4ADD-B1FF-A60793EB8182}" type="sibTrans" cxnId="{EC5987C5-95EE-45EB-8FA5-9E47ECB600F4}">
      <dgm:prSet/>
      <dgm:spPr/>
      <dgm:t>
        <a:bodyPr/>
        <a:lstStyle/>
        <a:p>
          <a:endParaRPr lang="en-US"/>
        </a:p>
      </dgm:t>
    </dgm:pt>
    <dgm:pt modelId="{6ADFB536-D5DA-4CB4-963A-89334DD86D24}">
      <dgm:prSet phldrT="[Text]"/>
      <dgm:spPr/>
      <dgm:t>
        <a:bodyPr/>
        <a:lstStyle/>
        <a:p>
          <a:r>
            <a:rPr lang="en-GB" b="1" i="1" dirty="0"/>
            <a:t>2. Design and Implementation</a:t>
          </a:r>
          <a:endParaRPr lang="en-US" dirty="0"/>
        </a:p>
      </dgm:t>
    </dgm:pt>
    <dgm:pt modelId="{2328E62B-3EFB-45B6-B83E-5CF5763D3896}" type="parTrans" cxnId="{E14F4565-056F-4CC9-8AD6-8E72BE446FCD}">
      <dgm:prSet/>
      <dgm:spPr/>
      <dgm:t>
        <a:bodyPr/>
        <a:lstStyle/>
        <a:p>
          <a:endParaRPr lang="en-US"/>
        </a:p>
      </dgm:t>
    </dgm:pt>
    <dgm:pt modelId="{FB356F7F-9A4C-40AA-8E3E-29E4830CD064}" type="sibTrans" cxnId="{E14F4565-056F-4CC9-8AD6-8E72BE446FCD}">
      <dgm:prSet/>
      <dgm:spPr/>
      <dgm:t>
        <a:bodyPr/>
        <a:lstStyle/>
        <a:p>
          <a:endParaRPr lang="en-US"/>
        </a:p>
      </dgm:t>
    </dgm:pt>
    <dgm:pt modelId="{9EF5B186-1D66-47FA-A402-85999167A03A}">
      <dgm:prSet phldrT="[Text]"/>
      <dgm:spPr/>
      <dgm:t>
        <a:bodyPr/>
        <a:lstStyle/>
        <a:p>
          <a:r>
            <a:rPr lang="en-GB" b="1" i="1" dirty="0"/>
            <a:t>3. Validation</a:t>
          </a:r>
          <a:endParaRPr lang="en-US" dirty="0"/>
        </a:p>
      </dgm:t>
    </dgm:pt>
    <dgm:pt modelId="{1DB3C054-CBCB-48CF-8893-A832BD3DDDC0}" type="parTrans" cxnId="{28DA2136-BBB3-4F77-A3AA-0A54CE3AB87F}">
      <dgm:prSet/>
      <dgm:spPr/>
      <dgm:t>
        <a:bodyPr/>
        <a:lstStyle/>
        <a:p>
          <a:endParaRPr lang="en-US"/>
        </a:p>
      </dgm:t>
    </dgm:pt>
    <dgm:pt modelId="{CFCE9F7F-A098-4BD3-8AC1-1B1BC135AB47}" type="sibTrans" cxnId="{28DA2136-BBB3-4F77-A3AA-0A54CE3AB87F}">
      <dgm:prSet/>
      <dgm:spPr/>
      <dgm:t>
        <a:bodyPr/>
        <a:lstStyle/>
        <a:p>
          <a:endParaRPr lang="en-US"/>
        </a:p>
      </dgm:t>
    </dgm:pt>
    <dgm:pt modelId="{9EE71D64-2E16-4B84-8B98-85A9339E26CA}">
      <dgm:prSet phldrT="[Text]"/>
      <dgm:spPr/>
      <dgm:t>
        <a:bodyPr/>
        <a:lstStyle/>
        <a:p>
          <a:r>
            <a:rPr lang="en-GB" b="1" i="1" dirty="0"/>
            <a:t>4. Maintenance and Evolution</a:t>
          </a:r>
          <a:endParaRPr lang="en-US" dirty="0"/>
        </a:p>
      </dgm:t>
    </dgm:pt>
    <dgm:pt modelId="{9696182D-B1FF-46C1-A71A-6C4FDCD2A1C9}" type="parTrans" cxnId="{7C31F005-4ED5-4533-9791-9D17DC82EAA3}">
      <dgm:prSet/>
      <dgm:spPr/>
      <dgm:t>
        <a:bodyPr/>
        <a:lstStyle/>
        <a:p>
          <a:endParaRPr lang="en-US"/>
        </a:p>
      </dgm:t>
    </dgm:pt>
    <dgm:pt modelId="{029A774B-4495-4406-99B5-C9895FF16CF2}" type="sibTrans" cxnId="{7C31F005-4ED5-4533-9791-9D17DC82EAA3}">
      <dgm:prSet/>
      <dgm:spPr/>
      <dgm:t>
        <a:bodyPr/>
        <a:lstStyle/>
        <a:p>
          <a:endParaRPr lang="en-US"/>
        </a:p>
      </dgm:t>
    </dgm:pt>
    <dgm:pt modelId="{BF3E5553-DF0A-4931-AD4C-8BD531163759}" type="pres">
      <dgm:prSet presAssocID="{CDA22365-A870-49B0-939C-931289965484}" presName="linear" presStyleCnt="0">
        <dgm:presLayoutVars>
          <dgm:animLvl val="lvl"/>
          <dgm:resizeHandles val="exact"/>
        </dgm:presLayoutVars>
      </dgm:prSet>
      <dgm:spPr/>
    </dgm:pt>
    <dgm:pt modelId="{0111AA2F-CD60-4917-A2DD-62377511B19C}" type="pres">
      <dgm:prSet presAssocID="{F2B3DA08-1EE3-4C3A-B377-A07E9A5D9AB1}" presName="parentText" presStyleLbl="node1" presStyleIdx="0" presStyleCnt="4">
        <dgm:presLayoutVars>
          <dgm:chMax val="0"/>
          <dgm:bulletEnabled val="1"/>
        </dgm:presLayoutVars>
      </dgm:prSet>
      <dgm:spPr/>
    </dgm:pt>
    <dgm:pt modelId="{C3B4FAEB-13CD-48A8-95F4-C2188876D856}" type="pres">
      <dgm:prSet presAssocID="{573D91C5-9365-4ADD-B1FF-A60793EB8182}" presName="spacer" presStyleCnt="0"/>
      <dgm:spPr/>
    </dgm:pt>
    <dgm:pt modelId="{38300291-629B-4CE8-AC83-FDA695341E4E}" type="pres">
      <dgm:prSet presAssocID="{6ADFB536-D5DA-4CB4-963A-89334DD86D24}" presName="parentText" presStyleLbl="node1" presStyleIdx="1" presStyleCnt="4">
        <dgm:presLayoutVars>
          <dgm:chMax val="0"/>
          <dgm:bulletEnabled val="1"/>
        </dgm:presLayoutVars>
      </dgm:prSet>
      <dgm:spPr/>
    </dgm:pt>
    <dgm:pt modelId="{5DE739D7-8F9E-40E2-B435-16996C415070}" type="pres">
      <dgm:prSet presAssocID="{FB356F7F-9A4C-40AA-8E3E-29E4830CD064}" presName="spacer" presStyleCnt="0"/>
      <dgm:spPr/>
    </dgm:pt>
    <dgm:pt modelId="{F06399FE-D335-479B-82E1-3B0470B4B6D4}" type="pres">
      <dgm:prSet presAssocID="{9EF5B186-1D66-47FA-A402-85999167A03A}" presName="parentText" presStyleLbl="node1" presStyleIdx="2" presStyleCnt="4">
        <dgm:presLayoutVars>
          <dgm:chMax val="0"/>
          <dgm:bulletEnabled val="1"/>
        </dgm:presLayoutVars>
      </dgm:prSet>
      <dgm:spPr/>
    </dgm:pt>
    <dgm:pt modelId="{EB472902-A343-4401-A0EA-FAC7E501B53D}" type="pres">
      <dgm:prSet presAssocID="{CFCE9F7F-A098-4BD3-8AC1-1B1BC135AB47}" presName="spacer" presStyleCnt="0"/>
      <dgm:spPr/>
    </dgm:pt>
    <dgm:pt modelId="{2DF33D06-ED7E-4581-B306-6C21417A4F58}" type="pres">
      <dgm:prSet presAssocID="{9EE71D64-2E16-4B84-8B98-85A9339E26CA}" presName="parentText" presStyleLbl="node1" presStyleIdx="3" presStyleCnt="4">
        <dgm:presLayoutVars>
          <dgm:chMax val="0"/>
          <dgm:bulletEnabled val="1"/>
        </dgm:presLayoutVars>
      </dgm:prSet>
      <dgm:spPr/>
    </dgm:pt>
  </dgm:ptLst>
  <dgm:cxnLst>
    <dgm:cxn modelId="{7C31F005-4ED5-4533-9791-9D17DC82EAA3}" srcId="{CDA22365-A870-49B0-939C-931289965484}" destId="{9EE71D64-2E16-4B84-8B98-85A9339E26CA}" srcOrd="3" destOrd="0" parTransId="{9696182D-B1FF-46C1-A71A-6C4FDCD2A1C9}" sibTransId="{029A774B-4495-4406-99B5-C9895FF16CF2}"/>
    <dgm:cxn modelId="{5EAE651C-2F64-46AF-BF14-DBC459B6A821}" type="presOf" srcId="{CDA22365-A870-49B0-939C-931289965484}" destId="{BF3E5553-DF0A-4931-AD4C-8BD531163759}" srcOrd="0" destOrd="0" presId="urn:microsoft.com/office/officeart/2005/8/layout/vList2"/>
    <dgm:cxn modelId="{28DA2136-BBB3-4F77-A3AA-0A54CE3AB87F}" srcId="{CDA22365-A870-49B0-939C-931289965484}" destId="{9EF5B186-1D66-47FA-A402-85999167A03A}" srcOrd="2" destOrd="0" parTransId="{1DB3C054-CBCB-48CF-8893-A832BD3DDDC0}" sibTransId="{CFCE9F7F-A098-4BD3-8AC1-1B1BC135AB47}"/>
    <dgm:cxn modelId="{E14F4565-056F-4CC9-8AD6-8E72BE446FCD}" srcId="{CDA22365-A870-49B0-939C-931289965484}" destId="{6ADFB536-D5DA-4CB4-963A-89334DD86D24}" srcOrd="1" destOrd="0" parTransId="{2328E62B-3EFB-45B6-B83E-5CF5763D3896}" sibTransId="{FB356F7F-9A4C-40AA-8E3E-29E4830CD064}"/>
    <dgm:cxn modelId="{81AF7254-A70A-46F9-942F-CDFB6E7F96A3}" type="presOf" srcId="{6ADFB536-D5DA-4CB4-963A-89334DD86D24}" destId="{38300291-629B-4CE8-AC83-FDA695341E4E}" srcOrd="0" destOrd="0" presId="urn:microsoft.com/office/officeart/2005/8/layout/vList2"/>
    <dgm:cxn modelId="{FE078058-166C-4395-AAF6-EC145015DD8D}" type="presOf" srcId="{9EF5B186-1D66-47FA-A402-85999167A03A}" destId="{F06399FE-D335-479B-82E1-3B0470B4B6D4}" srcOrd="0" destOrd="0" presId="urn:microsoft.com/office/officeart/2005/8/layout/vList2"/>
    <dgm:cxn modelId="{800414BD-60F9-419C-BC55-F105D6FE34C5}" type="presOf" srcId="{F2B3DA08-1EE3-4C3A-B377-A07E9A5D9AB1}" destId="{0111AA2F-CD60-4917-A2DD-62377511B19C}" srcOrd="0" destOrd="0" presId="urn:microsoft.com/office/officeart/2005/8/layout/vList2"/>
    <dgm:cxn modelId="{EC5987C5-95EE-45EB-8FA5-9E47ECB600F4}" srcId="{CDA22365-A870-49B0-939C-931289965484}" destId="{F2B3DA08-1EE3-4C3A-B377-A07E9A5D9AB1}" srcOrd="0" destOrd="0" parTransId="{82CE068F-6DD7-49A7-BA31-89422E1A6A4C}" sibTransId="{573D91C5-9365-4ADD-B1FF-A60793EB8182}"/>
    <dgm:cxn modelId="{43D98FFE-D517-4713-8825-A18ED0F27D20}" type="presOf" srcId="{9EE71D64-2E16-4B84-8B98-85A9339E26CA}" destId="{2DF33D06-ED7E-4581-B306-6C21417A4F58}" srcOrd="0" destOrd="0" presId="urn:microsoft.com/office/officeart/2005/8/layout/vList2"/>
    <dgm:cxn modelId="{CAE71406-2CB9-463F-A70A-BA7645F52043}" type="presParOf" srcId="{BF3E5553-DF0A-4931-AD4C-8BD531163759}" destId="{0111AA2F-CD60-4917-A2DD-62377511B19C}" srcOrd="0" destOrd="0" presId="urn:microsoft.com/office/officeart/2005/8/layout/vList2"/>
    <dgm:cxn modelId="{5573BDAE-AB19-4BD2-B356-F54B636DEF9C}" type="presParOf" srcId="{BF3E5553-DF0A-4931-AD4C-8BD531163759}" destId="{C3B4FAEB-13CD-48A8-95F4-C2188876D856}" srcOrd="1" destOrd="0" presId="urn:microsoft.com/office/officeart/2005/8/layout/vList2"/>
    <dgm:cxn modelId="{0AC18281-557F-404A-A38B-7D0607F660FC}" type="presParOf" srcId="{BF3E5553-DF0A-4931-AD4C-8BD531163759}" destId="{38300291-629B-4CE8-AC83-FDA695341E4E}" srcOrd="2" destOrd="0" presId="urn:microsoft.com/office/officeart/2005/8/layout/vList2"/>
    <dgm:cxn modelId="{11450AE8-4D52-445A-A4E8-27D24F98D494}" type="presParOf" srcId="{BF3E5553-DF0A-4931-AD4C-8BD531163759}" destId="{5DE739D7-8F9E-40E2-B435-16996C415070}" srcOrd="3" destOrd="0" presId="urn:microsoft.com/office/officeart/2005/8/layout/vList2"/>
    <dgm:cxn modelId="{5AADA633-83E6-4CA3-8A03-9FFCB284088B}" type="presParOf" srcId="{BF3E5553-DF0A-4931-AD4C-8BD531163759}" destId="{F06399FE-D335-479B-82E1-3B0470B4B6D4}" srcOrd="4" destOrd="0" presId="urn:microsoft.com/office/officeart/2005/8/layout/vList2"/>
    <dgm:cxn modelId="{77CEDC08-E8ED-4B4B-A695-13323CEB2067}" type="presParOf" srcId="{BF3E5553-DF0A-4931-AD4C-8BD531163759}" destId="{EB472902-A343-4401-A0EA-FAC7E501B53D}" srcOrd="5" destOrd="0" presId="urn:microsoft.com/office/officeart/2005/8/layout/vList2"/>
    <dgm:cxn modelId="{5A940DFD-ED65-4474-9C29-AD830F84F204}" type="presParOf" srcId="{BF3E5553-DF0A-4931-AD4C-8BD531163759}" destId="{2DF33D06-ED7E-4581-B306-6C21417A4F5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A22365-A870-49B0-939C-93128996548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F2B3DA08-1EE3-4C3A-B377-A07E9A5D9AB1}">
      <dgm:prSet phldrT="[Text]" custT="1"/>
      <dgm:spPr/>
      <dgm:t>
        <a:bodyPr/>
        <a:lstStyle/>
        <a:p>
          <a:r>
            <a:rPr lang="en-GB" sz="3800" b="1" i="1" kern="1200" dirty="0"/>
            <a:t>1. </a:t>
          </a:r>
          <a:r>
            <a:rPr lang="en-GB" sz="3800" b="1" i="1" kern="1200" dirty="0">
              <a:solidFill>
                <a:srgbClr val="92D050"/>
              </a:solidFill>
              <a:latin typeface="Segoe UI Light"/>
              <a:ea typeface="+mn-ea"/>
              <a:cs typeface="+mn-cs"/>
            </a:rPr>
            <a:t>Requirements and Specifications</a:t>
          </a:r>
          <a:endParaRPr lang="en-US" sz="3800" b="1" i="1" kern="1200" dirty="0">
            <a:solidFill>
              <a:srgbClr val="92D050"/>
            </a:solidFill>
            <a:latin typeface="Segoe UI Light"/>
            <a:ea typeface="+mn-ea"/>
            <a:cs typeface="+mn-cs"/>
          </a:endParaRPr>
        </a:p>
      </dgm:t>
    </dgm:pt>
    <dgm:pt modelId="{82CE068F-6DD7-49A7-BA31-89422E1A6A4C}" type="parTrans" cxnId="{EC5987C5-95EE-45EB-8FA5-9E47ECB600F4}">
      <dgm:prSet/>
      <dgm:spPr/>
      <dgm:t>
        <a:bodyPr/>
        <a:lstStyle/>
        <a:p>
          <a:endParaRPr lang="en-US"/>
        </a:p>
      </dgm:t>
    </dgm:pt>
    <dgm:pt modelId="{573D91C5-9365-4ADD-B1FF-A60793EB8182}" type="sibTrans" cxnId="{EC5987C5-95EE-45EB-8FA5-9E47ECB600F4}">
      <dgm:prSet/>
      <dgm:spPr/>
      <dgm:t>
        <a:bodyPr/>
        <a:lstStyle/>
        <a:p>
          <a:endParaRPr lang="en-US"/>
        </a:p>
      </dgm:t>
    </dgm:pt>
    <dgm:pt modelId="{6ADFB536-D5DA-4CB4-963A-89334DD86D24}">
      <dgm:prSet phldrT="[Text]" custT="1"/>
      <dgm:spPr/>
      <dgm:t>
        <a:bodyPr/>
        <a:lstStyle/>
        <a:p>
          <a:r>
            <a:rPr lang="en-GB" sz="3800" b="1" i="1" kern="1200" dirty="0"/>
            <a:t>2. </a:t>
          </a:r>
          <a:r>
            <a:rPr lang="en-GB" sz="3800" b="1" i="1" kern="1200" dirty="0">
              <a:solidFill>
                <a:srgbClr val="92D050"/>
              </a:solidFill>
              <a:latin typeface="Segoe UI Light"/>
              <a:ea typeface="+mn-ea"/>
              <a:cs typeface="+mn-cs"/>
            </a:rPr>
            <a:t>Design</a:t>
          </a:r>
          <a:r>
            <a:rPr lang="en-GB" sz="3800" b="1" i="1" kern="1200" dirty="0"/>
            <a:t> </a:t>
          </a:r>
          <a:r>
            <a:rPr lang="en-GB" sz="3800" b="1" i="1" kern="1200" dirty="0">
              <a:solidFill>
                <a:srgbClr val="11AEC7"/>
              </a:solidFill>
              <a:latin typeface="Segoe UI Light"/>
              <a:ea typeface="+mn-ea"/>
              <a:cs typeface="+mn-cs"/>
            </a:rPr>
            <a:t>and Implementation</a:t>
          </a:r>
          <a:endParaRPr lang="en-US" sz="3800" b="1" i="1" kern="1200" dirty="0">
            <a:solidFill>
              <a:srgbClr val="11AEC7"/>
            </a:solidFill>
            <a:latin typeface="Segoe UI Light"/>
            <a:ea typeface="+mn-ea"/>
            <a:cs typeface="+mn-cs"/>
          </a:endParaRPr>
        </a:p>
      </dgm:t>
    </dgm:pt>
    <dgm:pt modelId="{2328E62B-3EFB-45B6-B83E-5CF5763D3896}" type="parTrans" cxnId="{E14F4565-056F-4CC9-8AD6-8E72BE446FCD}">
      <dgm:prSet/>
      <dgm:spPr/>
      <dgm:t>
        <a:bodyPr/>
        <a:lstStyle/>
        <a:p>
          <a:endParaRPr lang="en-US"/>
        </a:p>
      </dgm:t>
    </dgm:pt>
    <dgm:pt modelId="{FB356F7F-9A4C-40AA-8E3E-29E4830CD064}" type="sibTrans" cxnId="{E14F4565-056F-4CC9-8AD6-8E72BE446FCD}">
      <dgm:prSet/>
      <dgm:spPr/>
      <dgm:t>
        <a:bodyPr/>
        <a:lstStyle/>
        <a:p>
          <a:endParaRPr lang="en-US"/>
        </a:p>
      </dgm:t>
    </dgm:pt>
    <dgm:pt modelId="{9EF5B186-1D66-47FA-A402-85999167A03A}">
      <dgm:prSet phldrT="[Text]"/>
      <dgm:spPr/>
      <dgm:t>
        <a:bodyPr/>
        <a:lstStyle/>
        <a:p>
          <a:r>
            <a:rPr lang="en-GB" b="1" i="1" dirty="0"/>
            <a:t>3. Validation</a:t>
          </a:r>
          <a:endParaRPr lang="en-US" dirty="0"/>
        </a:p>
      </dgm:t>
    </dgm:pt>
    <dgm:pt modelId="{1DB3C054-CBCB-48CF-8893-A832BD3DDDC0}" type="parTrans" cxnId="{28DA2136-BBB3-4F77-A3AA-0A54CE3AB87F}">
      <dgm:prSet/>
      <dgm:spPr/>
      <dgm:t>
        <a:bodyPr/>
        <a:lstStyle/>
        <a:p>
          <a:endParaRPr lang="en-US"/>
        </a:p>
      </dgm:t>
    </dgm:pt>
    <dgm:pt modelId="{CFCE9F7F-A098-4BD3-8AC1-1B1BC135AB47}" type="sibTrans" cxnId="{28DA2136-BBB3-4F77-A3AA-0A54CE3AB87F}">
      <dgm:prSet/>
      <dgm:spPr/>
      <dgm:t>
        <a:bodyPr/>
        <a:lstStyle/>
        <a:p>
          <a:endParaRPr lang="en-US"/>
        </a:p>
      </dgm:t>
    </dgm:pt>
    <dgm:pt modelId="{9EE71D64-2E16-4B84-8B98-85A9339E26CA}">
      <dgm:prSet phldrT="[Text]"/>
      <dgm:spPr/>
      <dgm:t>
        <a:bodyPr/>
        <a:lstStyle/>
        <a:p>
          <a:r>
            <a:rPr lang="en-GB" b="1" i="1" dirty="0"/>
            <a:t>4. Maintenance and Evolution</a:t>
          </a:r>
          <a:endParaRPr lang="en-US" dirty="0"/>
        </a:p>
      </dgm:t>
    </dgm:pt>
    <dgm:pt modelId="{9696182D-B1FF-46C1-A71A-6C4FDCD2A1C9}" type="parTrans" cxnId="{7C31F005-4ED5-4533-9791-9D17DC82EAA3}">
      <dgm:prSet/>
      <dgm:spPr/>
      <dgm:t>
        <a:bodyPr/>
        <a:lstStyle/>
        <a:p>
          <a:endParaRPr lang="en-US"/>
        </a:p>
      </dgm:t>
    </dgm:pt>
    <dgm:pt modelId="{029A774B-4495-4406-99B5-C9895FF16CF2}" type="sibTrans" cxnId="{7C31F005-4ED5-4533-9791-9D17DC82EAA3}">
      <dgm:prSet/>
      <dgm:spPr/>
      <dgm:t>
        <a:bodyPr/>
        <a:lstStyle/>
        <a:p>
          <a:endParaRPr lang="en-US"/>
        </a:p>
      </dgm:t>
    </dgm:pt>
    <dgm:pt modelId="{BF3E5553-DF0A-4931-AD4C-8BD531163759}" type="pres">
      <dgm:prSet presAssocID="{CDA22365-A870-49B0-939C-931289965484}" presName="linear" presStyleCnt="0">
        <dgm:presLayoutVars>
          <dgm:animLvl val="lvl"/>
          <dgm:resizeHandles val="exact"/>
        </dgm:presLayoutVars>
      </dgm:prSet>
      <dgm:spPr/>
    </dgm:pt>
    <dgm:pt modelId="{0111AA2F-CD60-4917-A2DD-62377511B19C}" type="pres">
      <dgm:prSet presAssocID="{F2B3DA08-1EE3-4C3A-B377-A07E9A5D9AB1}" presName="parentText" presStyleLbl="node1" presStyleIdx="0" presStyleCnt="4">
        <dgm:presLayoutVars>
          <dgm:chMax val="0"/>
          <dgm:bulletEnabled val="1"/>
        </dgm:presLayoutVars>
      </dgm:prSet>
      <dgm:spPr/>
    </dgm:pt>
    <dgm:pt modelId="{C3B4FAEB-13CD-48A8-95F4-C2188876D856}" type="pres">
      <dgm:prSet presAssocID="{573D91C5-9365-4ADD-B1FF-A60793EB8182}" presName="spacer" presStyleCnt="0"/>
      <dgm:spPr/>
    </dgm:pt>
    <dgm:pt modelId="{38300291-629B-4CE8-AC83-FDA695341E4E}" type="pres">
      <dgm:prSet presAssocID="{6ADFB536-D5DA-4CB4-963A-89334DD86D24}" presName="parentText" presStyleLbl="node1" presStyleIdx="1" presStyleCnt="4">
        <dgm:presLayoutVars>
          <dgm:chMax val="0"/>
          <dgm:bulletEnabled val="1"/>
        </dgm:presLayoutVars>
      </dgm:prSet>
      <dgm:spPr/>
    </dgm:pt>
    <dgm:pt modelId="{5DE739D7-8F9E-40E2-B435-16996C415070}" type="pres">
      <dgm:prSet presAssocID="{FB356F7F-9A4C-40AA-8E3E-29E4830CD064}" presName="spacer" presStyleCnt="0"/>
      <dgm:spPr/>
    </dgm:pt>
    <dgm:pt modelId="{F06399FE-D335-479B-82E1-3B0470B4B6D4}" type="pres">
      <dgm:prSet presAssocID="{9EF5B186-1D66-47FA-A402-85999167A03A}" presName="parentText" presStyleLbl="node1" presStyleIdx="2" presStyleCnt="4">
        <dgm:presLayoutVars>
          <dgm:chMax val="0"/>
          <dgm:bulletEnabled val="1"/>
        </dgm:presLayoutVars>
      </dgm:prSet>
      <dgm:spPr/>
    </dgm:pt>
    <dgm:pt modelId="{EB472902-A343-4401-A0EA-FAC7E501B53D}" type="pres">
      <dgm:prSet presAssocID="{CFCE9F7F-A098-4BD3-8AC1-1B1BC135AB47}" presName="spacer" presStyleCnt="0"/>
      <dgm:spPr/>
    </dgm:pt>
    <dgm:pt modelId="{2DF33D06-ED7E-4581-B306-6C21417A4F58}" type="pres">
      <dgm:prSet presAssocID="{9EE71D64-2E16-4B84-8B98-85A9339E26CA}" presName="parentText" presStyleLbl="node1" presStyleIdx="3" presStyleCnt="4">
        <dgm:presLayoutVars>
          <dgm:chMax val="0"/>
          <dgm:bulletEnabled val="1"/>
        </dgm:presLayoutVars>
      </dgm:prSet>
      <dgm:spPr/>
    </dgm:pt>
  </dgm:ptLst>
  <dgm:cxnLst>
    <dgm:cxn modelId="{7C31F005-4ED5-4533-9791-9D17DC82EAA3}" srcId="{CDA22365-A870-49B0-939C-931289965484}" destId="{9EE71D64-2E16-4B84-8B98-85A9339E26CA}" srcOrd="3" destOrd="0" parTransId="{9696182D-B1FF-46C1-A71A-6C4FDCD2A1C9}" sibTransId="{029A774B-4495-4406-99B5-C9895FF16CF2}"/>
    <dgm:cxn modelId="{5EAE651C-2F64-46AF-BF14-DBC459B6A821}" type="presOf" srcId="{CDA22365-A870-49B0-939C-931289965484}" destId="{BF3E5553-DF0A-4931-AD4C-8BD531163759}" srcOrd="0" destOrd="0" presId="urn:microsoft.com/office/officeart/2005/8/layout/vList2"/>
    <dgm:cxn modelId="{28DA2136-BBB3-4F77-A3AA-0A54CE3AB87F}" srcId="{CDA22365-A870-49B0-939C-931289965484}" destId="{9EF5B186-1D66-47FA-A402-85999167A03A}" srcOrd="2" destOrd="0" parTransId="{1DB3C054-CBCB-48CF-8893-A832BD3DDDC0}" sibTransId="{CFCE9F7F-A098-4BD3-8AC1-1B1BC135AB47}"/>
    <dgm:cxn modelId="{E14F4565-056F-4CC9-8AD6-8E72BE446FCD}" srcId="{CDA22365-A870-49B0-939C-931289965484}" destId="{6ADFB536-D5DA-4CB4-963A-89334DD86D24}" srcOrd="1" destOrd="0" parTransId="{2328E62B-3EFB-45B6-B83E-5CF5763D3896}" sibTransId="{FB356F7F-9A4C-40AA-8E3E-29E4830CD064}"/>
    <dgm:cxn modelId="{81AF7254-A70A-46F9-942F-CDFB6E7F96A3}" type="presOf" srcId="{6ADFB536-D5DA-4CB4-963A-89334DD86D24}" destId="{38300291-629B-4CE8-AC83-FDA695341E4E}" srcOrd="0" destOrd="0" presId="urn:microsoft.com/office/officeart/2005/8/layout/vList2"/>
    <dgm:cxn modelId="{FE078058-166C-4395-AAF6-EC145015DD8D}" type="presOf" srcId="{9EF5B186-1D66-47FA-A402-85999167A03A}" destId="{F06399FE-D335-479B-82E1-3B0470B4B6D4}" srcOrd="0" destOrd="0" presId="urn:microsoft.com/office/officeart/2005/8/layout/vList2"/>
    <dgm:cxn modelId="{800414BD-60F9-419C-BC55-F105D6FE34C5}" type="presOf" srcId="{F2B3DA08-1EE3-4C3A-B377-A07E9A5D9AB1}" destId="{0111AA2F-CD60-4917-A2DD-62377511B19C}" srcOrd="0" destOrd="0" presId="urn:microsoft.com/office/officeart/2005/8/layout/vList2"/>
    <dgm:cxn modelId="{EC5987C5-95EE-45EB-8FA5-9E47ECB600F4}" srcId="{CDA22365-A870-49B0-939C-931289965484}" destId="{F2B3DA08-1EE3-4C3A-B377-A07E9A5D9AB1}" srcOrd="0" destOrd="0" parTransId="{82CE068F-6DD7-49A7-BA31-89422E1A6A4C}" sibTransId="{573D91C5-9365-4ADD-B1FF-A60793EB8182}"/>
    <dgm:cxn modelId="{43D98FFE-D517-4713-8825-A18ED0F27D20}" type="presOf" srcId="{9EE71D64-2E16-4B84-8B98-85A9339E26CA}" destId="{2DF33D06-ED7E-4581-B306-6C21417A4F58}" srcOrd="0" destOrd="0" presId="urn:microsoft.com/office/officeart/2005/8/layout/vList2"/>
    <dgm:cxn modelId="{CAE71406-2CB9-463F-A70A-BA7645F52043}" type="presParOf" srcId="{BF3E5553-DF0A-4931-AD4C-8BD531163759}" destId="{0111AA2F-CD60-4917-A2DD-62377511B19C}" srcOrd="0" destOrd="0" presId="urn:microsoft.com/office/officeart/2005/8/layout/vList2"/>
    <dgm:cxn modelId="{5573BDAE-AB19-4BD2-B356-F54B636DEF9C}" type="presParOf" srcId="{BF3E5553-DF0A-4931-AD4C-8BD531163759}" destId="{C3B4FAEB-13CD-48A8-95F4-C2188876D856}" srcOrd="1" destOrd="0" presId="urn:microsoft.com/office/officeart/2005/8/layout/vList2"/>
    <dgm:cxn modelId="{0AC18281-557F-404A-A38B-7D0607F660FC}" type="presParOf" srcId="{BF3E5553-DF0A-4931-AD4C-8BD531163759}" destId="{38300291-629B-4CE8-AC83-FDA695341E4E}" srcOrd="2" destOrd="0" presId="urn:microsoft.com/office/officeart/2005/8/layout/vList2"/>
    <dgm:cxn modelId="{11450AE8-4D52-445A-A4E8-27D24F98D494}" type="presParOf" srcId="{BF3E5553-DF0A-4931-AD4C-8BD531163759}" destId="{5DE739D7-8F9E-40E2-B435-16996C415070}" srcOrd="3" destOrd="0" presId="urn:microsoft.com/office/officeart/2005/8/layout/vList2"/>
    <dgm:cxn modelId="{5AADA633-83E6-4CA3-8A03-9FFCB284088B}" type="presParOf" srcId="{BF3E5553-DF0A-4931-AD4C-8BD531163759}" destId="{F06399FE-D335-479B-82E1-3B0470B4B6D4}" srcOrd="4" destOrd="0" presId="urn:microsoft.com/office/officeart/2005/8/layout/vList2"/>
    <dgm:cxn modelId="{77CEDC08-E8ED-4B4B-A695-13323CEB2067}" type="presParOf" srcId="{BF3E5553-DF0A-4931-AD4C-8BD531163759}" destId="{EB472902-A343-4401-A0EA-FAC7E501B53D}" srcOrd="5" destOrd="0" presId="urn:microsoft.com/office/officeart/2005/8/layout/vList2"/>
    <dgm:cxn modelId="{5A940DFD-ED65-4474-9C29-AD830F84F204}" type="presParOf" srcId="{BF3E5553-DF0A-4931-AD4C-8BD531163759}" destId="{2DF33D06-ED7E-4581-B306-6C21417A4F5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1AA2F-CD60-4917-A2DD-62377511B19C}">
      <dsp:nvSpPr>
        <dsp:cNvPr id="0" name=""/>
        <dsp:cNvSpPr/>
      </dsp:nvSpPr>
      <dsp:spPr>
        <a:xfrm>
          <a:off x="0" y="5526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1. Requirements and Specifications</a:t>
          </a:r>
          <a:endParaRPr lang="en-US" sz="3800" kern="1200" dirty="0"/>
        </a:p>
      </dsp:txBody>
      <dsp:txXfrm>
        <a:off x="47748" y="103017"/>
        <a:ext cx="10420104" cy="882624"/>
      </dsp:txXfrm>
    </dsp:sp>
    <dsp:sp modelId="{38300291-629B-4CE8-AC83-FDA695341E4E}">
      <dsp:nvSpPr>
        <dsp:cNvPr id="0" name=""/>
        <dsp:cNvSpPr/>
      </dsp:nvSpPr>
      <dsp:spPr>
        <a:xfrm>
          <a:off x="0" y="114282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2. Design and Implementation</a:t>
          </a:r>
          <a:endParaRPr lang="en-US" sz="3800" kern="1200" dirty="0"/>
        </a:p>
      </dsp:txBody>
      <dsp:txXfrm>
        <a:off x="47748" y="1190577"/>
        <a:ext cx="10420104" cy="882624"/>
      </dsp:txXfrm>
    </dsp:sp>
    <dsp:sp modelId="{F06399FE-D335-479B-82E1-3B0470B4B6D4}">
      <dsp:nvSpPr>
        <dsp:cNvPr id="0" name=""/>
        <dsp:cNvSpPr/>
      </dsp:nvSpPr>
      <dsp:spPr>
        <a:xfrm>
          <a:off x="0" y="223038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3. Validation</a:t>
          </a:r>
          <a:endParaRPr lang="en-US" sz="3800" kern="1200" dirty="0"/>
        </a:p>
      </dsp:txBody>
      <dsp:txXfrm>
        <a:off x="47748" y="2278137"/>
        <a:ext cx="10420104" cy="882624"/>
      </dsp:txXfrm>
    </dsp:sp>
    <dsp:sp modelId="{2DF33D06-ED7E-4581-B306-6C21417A4F58}">
      <dsp:nvSpPr>
        <dsp:cNvPr id="0" name=""/>
        <dsp:cNvSpPr/>
      </dsp:nvSpPr>
      <dsp:spPr>
        <a:xfrm>
          <a:off x="0" y="331794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4. Maintenance and Evolution</a:t>
          </a:r>
          <a:endParaRPr lang="en-US" sz="3800" kern="1200" dirty="0"/>
        </a:p>
      </dsp:txBody>
      <dsp:txXfrm>
        <a:off x="47748" y="3365697"/>
        <a:ext cx="10420104" cy="8826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1AA2F-CD60-4917-A2DD-62377511B19C}">
      <dsp:nvSpPr>
        <dsp:cNvPr id="0" name=""/>
        <dsp:cNvSpPr/>
      </dsp:nvSpPr>
      <dsp:spPr>
        <a:xfrm>
          <a:off x="0" y="5526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1. </a:t>
          </a:r>
          <a:r>
            <a:rPr lang="en-GB" sz="3800" b="1" i="1" kern="1200" dirty="0">
              <a:solidFill>
                <a:srgbClr val="92D050"/>
              </a:solidFill>
              <a:latin typeface="Segoe UI Light"/>
              <a:ea typeface="+mn-ea"/>
              <a:cs typeface="+mn-cs"/>
            </a:rPr>
            <a:t>Requirements and Specifications</a:t>
          </a:r>
          <a:endParaRPr lang="en-US" sz="3800" b="1" i="1" kern="1200" dirty="0">
            <a:solidFill>
              <a:srgbClr val="92D050"/>
            </a:solidFill>
            <a:latin typeface="Segoe UI Light"/>
            <a:ea typeface="+mn-ea"/>
            <a:cs typeface="+mn-cs"/>
          </a:endParaRPr>
        </a:p>
      </dsp:txBody>
      <dsp:txXfrm>
        <a:off x="47748" y="103017"/>
        <a:ext cx="10420104" cy="882624"/>
      </dsp:txXfrm>
    </dsp:sp>
    <dsp:sp modelId="{38300291-629B-4CE8-AC83-FDA695341E4E}">
      <dsp:nvSpPr>
        <dsp:cNvPr id="0" name=""/>
        <dsp:cNvSpPr/>
      </dsp:nvSpPr>
      <dsp:spPr>
        <a:xfrm>
          <a:off x="0" y="114282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2. </a:t>
          </a:r>
          <a:r>
            <a:rPr lang="en-GB" sz="3800" b="1" i="1" kern="1200" dirty="0">
              <a:solidFill>
                <a:srgbClr val="92D050"/>
              </a:solidFill>
              <a:latin typeface="Segoe UI Light"/>
              <a:ea typeface="+mn-ea"/>
              <a:cs typeface="+mn-cs"/>
            </a:rPr>
            <a:t>Design</a:t>
          </a:r>
          <a:r>
            <a:rPr lang="en-GB" sz="3800" b="1" i="1" kern="1200" dirty="0"/>
            <a:t> </a:t>
          </a:r>
          <a:r>
            <a:rPr lang="en-GB" sz="3800" b="1" i="1" kern="1200" dirty="0">
              <a:solidFill>
                <a:srgbClr val="11AEC7"/>
              </a:solidFill>
              <a:latin typeface="Segoe UI Light"/>
              <a:ea typeface="+mn-ea"/>
              <a:cs typeface="+mn-cs"/>
            </a:rPr>
            <a:t>and Implementation</a:t>
          </a:r>
          <a:endParaRPr lang="en-US" sz="3800" b="1" i="1" kern="1200" dirty="0">
            <a:solidFill>
              <a:srgbClr val="11AEC7"/>
            </a:solidFill>
            <a:latin typeface="Segoe UI Light"/>
            <a:ea typeface="+mn-ea"/>
            <a:cs typeface="+mn-cs"/>
          </a:endParaRPr>
        </a:p>
      </dsp:txBody>
      <dsp:txXfrm>
        <a:off x="47748" y="1190577"/>
        <a:ext cx="10420104" cy="882624"/>
      </dsp:txXfrm>
    </dsp:sp>
    <dsp:sp modelId="{F06399FE-D335-479B-82E1-3B0470B4B6D4}">
      <dsp:nvSpPr>
        <dsp:cNvPr id="0" name=""/>
        <dsp:cNvSpPr/>
      </dsp:nvSpPr>
      <dsp:spPr>
        <a:xfrm>
          <a:off x="0" y="223038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3. Validation</a:t>
          </a:r>
          <a:endParaRPr lang="en-US" sz="3800" kern="1200" dirty="0"/>
        </a:p>
      </dsp:txBody>
      <dsp:txXfrm>
        <a:off x="47748" y="2278137"/>
        <a:ext cx="10420104" cy="882624"/>
      </dsp:txXfrm>
    </dsp:sp>
    <dsp:sp modelId="{2DF33D06-ED7E-4581-B306-6C21417A4F58}">
      <dsp:nvSpPr>
        <dsp:cNvPr id="0" name=""/>
        <dsp:cNvSpPr/>
      </dsp:nvSpPr>
      <dsp:spPr>
        <a:xfrm>
          <a:off x="0" y="3317949"/>
          <a:ext cx="10515600" cy="9781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GB" sz="3800" b="1" i="1" kern="1200" dirty="0"/>
            <a:t>4. Maintenance and Evolution</a:t>
          </a:r>
          <a:endParaRPr lang="en-US" sz="3800" kern="1200" dirty="0"/>
        </a:p>
      </dsp:txBody>
      <dsp:txXfrm>
        <a:off x="47748" y="3365697"/>
        <a:ext cx="10420104" cy="8826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3/10/2026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Software_quality"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en.wikipedia.org/wiki/Software"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w3schools.com/js/js_conventions.asp"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youtu.be/44Ja2X_fzv4"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10 languages 2022:</a:t>
            </a:r>
          </a:p>
          <a:p>
            <a:r>
              <a:rPr lang="en-US" dirty="0"/>
              <a:t>https://www.geeksforgeeks.org/top-10-programming-languages-to-learn-in-2022/</a:t>
            </a:r>
          </a:p>
          <a:p>
            <a:endParaRPr lang="en-US" dirty="0"/>
          </a:p>
          <a:p>
            <a:r>
              <a:rPr lang="en-US" dirty="0"/>
              <a:t>Building faster with Codex</a:t>
            </a:r>
          </a:p>
          <a:p>
            <a:r>
              <a:rPr lang="en-US" dirty="0"/>
              <a:t>https://youtu.be/wSAkqlzSZyw?si=W2fISC_XhJCY6Ola</a:t>
            </a:r>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3168899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1542376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39725" indent="-339725">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sz="2400" dirty="0"/>
              <a:t>There are several basic components present in all SW Engineering methodologies:</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Requirements and Specification</a:t>
            </a:r>
            <a:r>
              <a:rPr lang="en-GB" dirty="0"/>
              <a:t>: functionality, constraints, look and feel, GUI, performance</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Design and Implementation</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Validation</a:t>
            </a:r>
            <a:r>
              <a:rPr lang="en-GB" dirty="0"/>
              <a:t>: formal, test plans, QA</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Maintenance and Evolution</a:t>
            </a:r>
            <a:r>
              <a:rPr lang="en-GB" dirty="0"/>
              <a:t>: ongoing changes (and fixes)  to meet customer needs</a:t>
            </a:r>
          </a:p>
          <a:p>
            <a:pPr marL="457200" lvl="1" indent="0">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dirty="0"/>
              <a:t>These components are applied in different way and order (linear, iterative, spiral...) depending on chosen SW Engineering methodology or models (I.e. </a:t>
            </a:r>
            <a:r>
              <a:rPr lang="en-GB" i="1" dirty="0"/>
              <a:t>waterfall, extreme, agile</a:t>
            </a:r>
            <a:r>
              <a:rPr lang="en-GB" dirty="0"/>
              <a:t> etc.)</a:t>
            </a:r>
            <a:r>
              <a:rPr lang="x-none" dirty="0"/>
              <a:t>‏</a:t>
            </a:r>
            <a:endParaRPr lang="en-GB" dirty="0"/>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787410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39725" indent="-339725">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sz="2400" dirty="0"/>
              <a:t>There are several basic components present in all SW Engineering methodologies:</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Requirements and Specification</a:t>
            </a:r>
            <a:r>
              <a:rPr lang="en-GB" dirty="0"/>
              <a:t>: functionality, constraints, look and feel, GUI, performance</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Design and Implementation</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Validation</a:t>
            </a:r>
            <a:r>
              <a:rPr lang="en-GB" dirty="0"/>
              <a:t>: formal, test plans, QA</a:t>
            </a:r>
          </a:p>
          <a:p>
            <a:pPr marL="914400" lvl="1" indent="-457200">
              <a:buFont typeface="+mj-lt"/>
              <a:buAutoNum type="arabicPeriod"/>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b="1" i="1" dirty="0"/>
              <a:t>SW Maintenance and Evolution</a:t>
            </a:r>
            <a:r>
              <a:rPr lang="en-GB" dirty="0"/>
              <a:t>: ongoing changes (and fixes)  to meet customer needs</a:t>
            </a:r>
          </a:p>
          <a:p>
            <a:pPr marL="457200" lvl="1" indent="0">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GB" dirty="0"/>
              <a:t>These components are applied in different way and order (linear, iterative, spiral...) depending on chosen SW Engineering methodology or models (I.e. </a:t>
            </a:r>
            <a:r>
              <a:rPr lang="en-GB" i="1" dirty="0"/>
              <a:t>waterfall, extreme, agile</a:t>
            </a:r>
            <a:r>
              <a:rPr lang="en-GB" dirty="0"/>
              <a:t> etc.)</a:t>
            </a:r>
            <a:r>
              <a:rPr lang="x-none" dirty="0"/>
              <a:t>‏</a:t>
            </a:r>
            <a:endParaRPr lang="en-GB" dirty="0"/>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721279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a:t>
            </a:r>
          </a:p>
          <a:p>
            <a:r>
              <a:rPr lang="en-US" b="0" i="0" dirty="0">
                <a:solidFill>
                  <a:srgbClr val="4D5156"/>
                </a:solidFill>
                <a:effectLst/>
                <a:latin typeface="Roboto"/>
              </a:rPr>
              <a:t>Software maintenance in software engineering is the modification of a software product after delivery to correct faults, to improve performance or other attributes.</a:t>
            </a:r>
          </a:p>
          <a:p>
            <a:r>
              <a:rPr lang="en-US" dirty="0"/>
              <a:t>https://en.wikipedia.org/wiki/Software_maintenance</a:t>
            </a:r>
            <a:endParaRPr lang="en-US" b="0" i="0" dirty="0">
              <a:solidFill>
                <a:srgbClr val="4D5156"/>
              </a:solidFill>
              <a:effectLst/>
              <a:latin typeface="Roboto"/>
            </a:endParaRPr>
          </a:p>
          <a:p>
            <a:endParaRPr lang="en-US" b="0" i="0" dirty="0">
              <a:solidFill>
                <a:srgbClr val="4D5156"/>
              </a:solidFill>
              <a:effectLst/>
              <a:latin typeface="Roboto"/>
            </a:endParaRPr>
          </a:p>
          <a:p>
            <a:r>
              <a:rPr lang="en-US" b="0" i="0" dirty="0">
                <a:solidFill>
                  <a:srgbClr val="4D5156"/>
                </a:solidFill>
                <a:effectLst/>
                <a:latin typeface="Roboto"/>
              </a:rPr>
              <a:t>TESTING</a:t>
            </a:r>
          </a:p>
          <a:p>
            <a:r>
              <a:rPr lang="en-US" b="1" i="0" dirty="0">
                <a:solidFill>
                  <a:srgbClr val="202122"/>
                </a:solidFill>
                <a:effectLst/>
                <a:latin typeface="Arial" panose="020B0604020202020204" pitchFamily="34" charset="0"/>
              </a:rPr>
              <a:t>Software testing</a:t>
            </a:r>
            <a:r>
              <a:rPr lang="en-US" b="0" i="0" dirty="0">
                <a:solidFill>
                  <a:srgbClr val="202122"/>
                </a:solidFill>
                <a:effectLst/>
                <a:latin typeface="Arial" panose="020B0604020202020204" pitchFamily="34" charset="0"/>
              </a:rPr>
              <a:t> is an investigation conducted to provide stakeholders with information about the </a:t>
            </a:r>
            <a:r>
              <a:rPr lang="en-US" b="0" i="0" u="none" strike="noStrike" dirty="0">
                <a:solidFill>
                  <a:srgbClr val="0645AD"/>
                </a:solidFill>
                <a:effectLst/>
                <a:latin typeface="Arial" panose="020B0604020202020204" pitchFamily="34" charset="0"/>
                <a:hlinkClick r:id="rId3" tooltip="Software quality"/>
              </a:rPr>
              <a:t>quality</a:t>
            </a:r>
            <a:r>
              <a:rPr lang="en-US" b="0" i="0" dirty="0">
                <a:solidFill>
                  <a:srgbClr val="202122"/>
                </a:solidFill>
                <a:effectLst/>
                <a:latin typeface="Arial" panose="020B0604020202020204" pitchFamily="34" charset="0"/>
              </a:rPr>
              <a:t> of the </a:t>
            </a:r>
            <a:r>
              <a:rPr lang="en-US" b="0" i="0" u="none" strike="noStrike" dirty="0">
                <a:solidFill>
                  <a:srgbClr val="0645AD"/>
                </a:solidFill>
                <a:effectLst/>
                <a:latin typeface="Arial" panose="020B0604020202020204" pitchFamily="34" charset="0"/>
                <a:hlinkClick r:id="rId4" tooltip="Software"/>
              </a:rPr>
              <a:t>software</a:t>
            </a:r>
            <a:r>
              <a:rPr lang="en-US" b="0" i="0" dirty="0">
                <a:solidFill>
                  <a:srgbClr val="202122"/>
                </a:solidFill>
                <a:effectLst/>
                <a:latin typeface="Arial" panose="020B0604020202020204" pitchFamily="34" charset="0"/>
              </a:rPr>
              <a:t> product or service under test</a:t>
            </a:r>
            <a:endParaRPr lang="en-US" b="0" i="0" dirty="0">
              <a:solidFill>
                <a:srgbClr val="4D5156"/>
              </a:solidFill>
              <a:effectLst/>
              <a:latin typeface="Roboto"/>
            </a:endParaRPr>
          </a:p>
          <a:p>
            <a:r>
              <a:rPr lang="en-US" dirty="0"/>
              <a:t>https://en.wikipedia.org/wiki/Software_testing</a:t>
            </a:r>
          </a:p>
          <a:p>
            <a:endParaRPr lang="en-US" b="0" i="0" dirty="0">
              <a:solidFill>
                <a:srgbClr val="4D5156"/>
              </a:solidFill>
              <a:effectLst/>
              <a:latin typeface="Roboto"/>
            </a:endParaRPr>
          </a:p>
          <a:p>
            <a:r>
              <a:rPr lang="en-US" b="0" i="0" dirty="0">
                <a:solidFill>
                  <a:srgbClr val="4D5156"/>
                </a:solidFill>
                <a:effectLst/>
                <a:latin typeface="Roboto"/>
              </a:rPr>
              <a:t>OPTIMIZATION</a:t>
            </a:r>
          </a:p>
          <a:p>
            <a:r>
              <a:rPr lang="en-US" b="0" i="0" dirty="0">
                <a:solidFill>
                  <a:srgbClr val="202124"/>
                </a:solidFill>
                <a:effectLst/>
                <a:latin typeface="Roboto"/>
              </a:rPr>
              <a:t>In computer science, </a:t>
            </a:r>
            <a:r>
              <a:rPr lang="en-US" b="1" i="0" dirty="0">
                <a:solidFill>
                  <a:srgbClr val="202124"/>
                </a:solidFill>
                <a:effectLst/>
                <a:latin typeface="Roboto"/>
              </a:rPr>
              <a:t>program optimization</a:t>
            </a:r>
            <a:r>
              <a:rPr lang="en-US" b="0" i="0" dirty="0">
                <a:solidFill>
                  <a:srgbClr val="202124"/>
                </a:solidFill>
                <a:effectLst/>
                <a:latin typeface="Roboto"/>
              </a:rPr>
              <a:t>, code </a:t>
            </a:r>
            <a:r>
              <a:rPr lang="en-US" b="1" i="0" dirty="0">
                <a:solidFill>
                  <a:srgbClr val="202124"/>
                </a:solidFill>
                <a:effectLst/>
                <a:latin typeface="Roboto"/>
              </a:rPr>
              <a:t>optimization</a:t>
            </a:r>
            <a:r>
              <a:rPr lang="en-US" b="0" i="0" dirty="0">
                <a:solidFill>
                  <a:srgbClr val="202124"/>
                </a:solidFill>
                <a:effectLst/>
                <a:latin typeface="Roboto"/>
              </a:rPr>
              <a:t>, or </a:t>
            </a:r>
            <a:r>
              <a:rPr lang="en-US" b="1" i="0" dirty="0">
                <a:solidFill>
                  <a:srgbClr val="202124"/>
                </a:solidFill>
                <a:effectLst/>
                <a:latin typeface="Roboto"/>
              </a:rPr>
              <a:t>software optimization</a:t>
            </a:r>
            <a:r>
              <a:rPr lang="en-US" b="0" i="0" dirty="0">
                <a:solidFill>
                  <a:srgbClr val="202124"/>
                </a:solidFill>
                <a:effectLst/>
                <a:latin typeface="Roboto"/>
              </a:rPr>
              <a:t> is the process of modifying a </a:t>
            </a:r>
            <a:r>
              <a:rPr lang="en-US" b="1" i="0" dirty="0">
                <a:solidFill>
                  <a:srgbClr val="202124"/>
                </a:solidFill>
                <a:effectLst/>
                <a:latin typeface="Roboto"/>
              </a:rPr>
              <a:t>software</a:t>
            </a:r>
            <a:r>
              <a:rPr lang="en-US" b="0" i="0" dirty="0">
                <a:solidFill>
                  <a:srgbClr val="202124"/>
                </a:solidFill>
                <a:effectLst/>
                <a:latin typeface="Roboto"/>
              </a:rPr>
              <a:t> system to make some aspect of it work more efficiently or use fewer resources.</a:t>
            </a:r>
            <a:endParaRPr lang="en-US" b="0" i="0" dirty="0">
              <a:solidFill>
                <a:srgbClr val="4D5156"/>
              </a:solidFill>
              <a:effectLst/>
              <a:latin typeface="Roboto"/>
            </a:endParaRPr>
          </a:p>
          <a:p>
            <a:r>
              <a:rPr lang="en-US" b="0" i="0" dirty="0">
                <a:solidFill>
                  <a:srgbClr val="4D5156"/>
                </a:solidFill>
                <a:effectLst/>
                <a:latin typeface="Roboto"/>
              </a:rPr>
              <a:t>https://en.wikipedia.org/wiki/Program_optimization</a:t>
            </a:r>
          </a:p>
          <a:p>
            <a:endParaRPr lang="en-US" b="0" i="0" dirty="0">
              <a:solidFill>
                <a:srgbClr val="4D5156"/>
              </a:solidFill>
              <a:effectLst/>
              <a:latin typeface="Roboto"/>
            </a:endParaRPr>
          </a:p>
          <a:p>
            <a:r>
              <a:rPr lang="en-US" b="0" i="0" dirty="0">
                <a:solidFill>
                  <a:srgbClr val="4D5156"/>
                </a:solidFill>
                <a:effectLst/>
                <a:latin typeface="Roboto"/>
              </a:rPr>
              <a:t>PORTABILITY</a:t>
            </a:r>
          </a:p>
          <a:p>
            <a:r>
              <a:rPr lang="en-US" b="0" i="0" dirty="0">
                <a:solidFill>
                  <a:srgbClr val="4D5156"/>
                </a:solidFill>
                <a:effectLst/>
                <a:latin typeface="Roboto"/>
              </a:rPr>
              <a:t>Portability in high-level computer programming is the usability of the same software in different environments</a:t>
            </a:r>
          </a:p>
          <a:p>
            <a:r>
              <a:rPr lang="en-US" b="0" i="0" dirty="0">
                <a:solidFill>
                  <a:srgbClr val="4D5156"/>
                </a:solidFill>
                <a:effectLst/>
                <a:latin typeface="Roboto"/>
              </a:rPr>
              <a:t>https://en.wikipedia.org/wiki/Software_portability</a:t>
            </a:r>
          </a:p>
          <a:p>
            <a:endParaRPr lang="en-US" b="0" i="0" dirty="0">
              <a:solidFill>
                <a:srgbClr val="4D5156"/>
              </a:solidFill>
              <a:effectLst/>
              <a:latin typeface="Roboto"/>
            </a:endParaRPr>
          </a:p>
          <a:p>
            <a:endParaRPr lang="en-US" b="0" i="0" dirty="0">
              <a:solidFill>
                <a:srgbClr val="4D5156"/>
              </a:solidFill>
              <a:effectLst/>
              <a:latin typeface="Roboto"/>
            </a:endParaRPr>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480005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JavaScript</a:t>
            </a:r>
          </a:p>
          <a:p>
            <a:r>
              <a:rPr lang="en-US" dirty="0">
                <a:hlinkClick r:id="rId3"/>
              </a:rPr>
              <a:t>https://www.w3schools.com/js/js_conventions.asp</a:t>
            </a:r>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3922690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a:t>
            </a:r>
          </a:p>
          <a:p>
            <a:r>
              <a:rPr lang="en-US" dirty="0"/>
              <a:t>White Space</a:t>
            </a:r>
          </a:p>
          <a:p>
            <a:r>
              <a:rPr lang="en-US" dirty="0"/>
              <a:t>Capitalization</a:t>
            </a:r>
          </a:p>
          <a:p>
            <a:r>
              <a:rPr lang="en-US" dirty="0"/>
              <a:t>Style and Spelling </a:t>
            </a:r>
          </a:p>
          <a:p>
            <a:r>
              <a:rPr lang="en-US" dirty="0"/>
              <a:t>Use &amp; Style of Comments</a:t>
            </a:r>
          </a:p>
        </p:txBody>
      </p:sp>
      <p:sp>
        <p:nvSpPr>
          <p:cNvPr id="4" name="Slide Number Placeholder 3"/>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1530317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Doxygen</a:t>
            </a:r>
            <a:r>
              <a:rPr lang="en-US" sz="1200" b="0" i="0" kern="1200" dirty="0">
                <a:solidFill>
                  <a:schemeClr val="tx1"/>
                </a:solidFill>
                <a:effectLst/>
                <a:latin typeface="+mn-lt"/>
                <a:ea typeface="+mn-ea"/>
                <a:cs typeface="+mn-cs"/>
              </a:rPr>
              <a:t> - Documentation For Your Programs - Installing, Setting Up, And Running Tutorial</a:t>
            </a:r>
          </a:p>
          <a:p>
            <a:r>
              <a:rPr lang="en-US" dirty="0">
                <a:hlinkClick r:id="rId3"/>
              </a:rPr>
              <a:t>https://youtu.be/44Ja2X_fzv4</a:t>
            </a:r>
            <a:r>
              <a:rPr lang="en-US" dirty="0"/>
              <a:t> </a:t>
            </a:r>
          </a:p>
        </p:txBody>
      </p:sp>
      <p:sp>
        <p:nvSpPr>
          <p:cNvPr id="4" name="Slide Number Placeholder 3"/>
          <p:cNvSpPr>
            <a:spLocks noGrp="1"/>
          </p:cNvSpPr>
          <p:nvPr>
            <p:ph type="sldNum" sz="quarter" idx="5"/>
          </p:nvPr>
        </p:nvSpPr>
        <p:spPr/>
        <p:txBody>
          <a:bodyPr/>
          <a:lstStyle/>
          <a:p>
            <a:fld id="{BE60DC36-8EFA-4378-9855-E019C55AC472}" type="slidenum">
              <a:rPr lang="en-US" smtClean="0"/>
              <a:t>17</a:t>
            </a:fld>
            <a:endParaRPr lang="en-US" dirty="0"/>
          </a:p>
        </p:txBody>
      </p:sp>
    </p:spTree>
    <p:extLst>
      <p:ext uri="{BB962C8B-B14F-4D97-AF65-F5344CB8AC3E}">
        <p14:creationId xmlns:p14="http://schemas.microsoft.com/office/powerpoint/2010/main" val="3296876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BE60DC36-8EFA-4378-9855-E019C55AC472}" type="slidenum">
              <a:rPr lang="en-US" smtClean="0"/>
              <a:t>20</a:t>
            </a:fld>
            <a:endParaRPr lang="en-US" dirty="0"/>
          </a:p>
        </p:txBody>
      </p:sp>
    </p:spTree>
    <p:extLst>
      <p:ext uri="{BB962C8B-B14F-4D97-AF65-F5344CB8AC3E}">
        <p14:creationId xmlns:p14="http://schemas.microsoft.com/office/powerpoint/2010/main" val="3334189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Super Bowl 2026 | Codex | You Can Just Build Things</a:t>
            </a:r>
          </a:p>
          <a:p>
            <a:r>
              <a:rPr lang="en-US" dirty="0"/>
              <a:t>https://youtu.be/aCN9iCXNJqQ?si=tr1R6jY1IVeE2dOu</a:t>
            </a:r>
          </a:p>
          <a:p>
            <a:endParaRPr lang="en-US" dirty="0"/>
          </a:p>
          <a:p>
            <a:r>
              <a:rPr lang="en-US" dirty="0"/>
              <a:t>Building faster with Codex</a:t>
            </a:r>
          </a:p>
          <a:p>
            <a:r>
              <a:rPr lang="en-US" dirty="0"/>
              <a:t>https://youtu.be/wSAkqlzSZyw?si=W2fISC_XhJCY6Ola</a:t>
            </a:r>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22</a:t>
            </a:fld>
            <a:endParaRPr lang="en-US" dirty="0"/>
          </a:p>
        </p:txBody>
      </p:sp>
    </p:spTree>
    <p:extLst>
      <p:ext uri="{BB962C8B-B14F-4D97-AF65-F5344CB8AC3E}">
        <p14:creationId xmlns:p14="http://schemas.microsoft.com/office/powerpoint/2010/main" val="301176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Horizontal and vertical prototypes are sometimes used during the analysis and design phases of application development. They are useful for requirements elaboration and visualization, but can present some pitfalls.  As long as analysts and teams are aware of the pitfalls to avoid, the pros of using prototypes generally far outweigh the cons.  The type of prototype that should be used (horizontal prototype versus vertical prototype) depends on the specific goals of the team and the stage within the analysis and design process.</a:t>
            </a:r>
          </a:p>
          <a:p>
            <a:pPr fontAlgn="base"/>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Horizontal Prototypes</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Horizontal prototypes are most often used during the early stages of analysis. They give a broad view of the application including sample screens, menus, buttons, pop-ups and sample reports that reflect the current requirements. While the screens are superficially interactive, buttons and features will have little or no processing behind them. The may navigate a user to another screen, give and alert, or show a sample report with dummy data, but the internal functions are not fully implemented. </a:t>
            </a:r>
          </a:p>
          <a:p>
            <a:pPr fontAlgn="base"/>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Horizontal prototypes reflect the breadth of the system without drilling down into too much detail. They are helpful for understanding the range of abilities across a system and how feature sets will be brought together.  They are useful for presenting ideas to stakeholders, facilitating requirements discussions, and gaining buy-in on requirements and design decisions.</a:t>
            </a:r>
          </a:p>
          <a:p>
            <a:pPr fontAlgn="base"/>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Vertical prototype</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Vertical prototypes are used in the later stages of analysis and design to drill down and elaborate on specific features or functions. Vertical prototypes are more technical in nature, connect to databases with real data, interface with existing sub-systems, and reflect the nearly-exact functioning of key features.  They are most appropriate when complex features of a system are poorly-understood and are useful in demonstrating that a requirement or set of requirements is technically feasible.  Vertical prototypes do not attempt to detail out the entire breath of the application, but focus on implementing a specific feature or feature set in a more complete manner. They demonstrate to the stakeholders that the application works although it might not be fully tuned.   </a:t>
            </a:r>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23</a:t>
            </a:fld>
            <a:endParaRPr lang="en-US" dirty="0"/>
          </a:p>
        </p:txBody>
      </p:sp>
    </p:spTree>
    <p:extLst>
      <p:ext uri="{BB962C8B-B14F-4D97-AF65-F5344CB8AC3E}">
        <p14:creationId xmlns:p14="http://schemas.microsoft.com/office/powerpoint/2010/main" val="1534216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UI Mockups and Storyboards (high level only). </a:t>
            </a:r>
            <a:endParaRPr lang="en-US" sz="2000" dirty="0"/>
          </a:p>
          <a:p>
            <a:pPr lvl="2"/>
            <a:r>
              <a:rPr lang="en-US" dirty="0"/>
              <a:t>Remember slide #70 of Class 2 slides. Practically, based on your use cases, you make a mockup of each of them graphically and describe the sequence. For instance [1] The register page mockup --&gt; [2] Upload picture GUI mockup --&gt;[3] Post to sell mockup...etc.</a:t>
            </a:r>
          </a:p>
          <a:p>
            <a:pPr lvl="2"/>
            <a:endParaRPr lang="en-US" sz="1800" dirty="0"/>
          </a:p>
          <a:p>
            <a:pPr lvl="1"/>
            <a:r>
              <a:rPr lang="en-US" dirty="0"/>
              <a:t>High level Architecture, Database Organization</a:t>
            </a:r>
            <a:endParaRPr lang="en-US" sz="2000" dirty="0"/>
          </a:p>
          <a:p>
            <a:pPr lvl="2"/>
            <a:r>
              <a:rPr lang="en-US" dirty="0"/>
              <a:t>Some of the teams already did some database org in M1, from those who don’t, you need for M2. Remember class 4 slide 28 MVC and other Architecture pattern, use those and align them with the instructions (media Storage, Search, APIs, etc.)</a:t>
            </a:r>
            <a:endParaRPr lang="en-US" sz="1800" dirty="0"/>
          </a:p>
          <a:p>
            <a:pPr lvl="2"/>
            <a:endParaRPr lang="en-US" sz="1800" dirty="0"/>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24</a:t>
            </a:fld>
            <a:endParaRPr lang="en-US" dirty="0"/>
          </a:p>
        </p:txBody>
      </p:sp>
    </p:spTree>
    <p:extLst>
      <p:ext uri="{BB962C8B-B14F-4D97-AF65-F5344CB8AC3E}">
        <p14:creationId xmlns:p14="http://schemas.microsoft.com/office/powerpoint/2010/main" val="2272450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pPr algn="l"/>
            <a:endParaRPr lang="en-US" sz="1800" b="0" i="0" u="none" strike="noStrike" baseline="0" dirty="0">
              <a:solidFill>
                <a:srgbClr val="000000"/>
              </a:solidFill>
              <a:latin typeface="Arial" panose="020B0604020202020204" pitchFamily="34" charset="0"/>
            </a:endParaRPr>
          </a:p>
          <a:p>
            <a:r>
              <a:rPr lang="en-US" sz="1800" b="0" i="0" u="none" strike="noStrike" baseline="0" dirty="0">
                <a:solidFill>
                  <a:srgbClr val="000000"/>
                </a:solidFill>
                <a:latin typeface="Arial" panose="020B0604020202020204" pitchFamily="34" charset="0"/>
              </a:rPr>
              <a:t>UI for </a:t>
            </a:r>
            <a:r>
              <a:rPr lang="en-US" sz="1800" b="0" i="1" u="none" strike="noStrike" baseline="0" dirty="0">
                <a:solidFill>
                  <a:srgbClr val="000000"/>
                </a:solidFill>
                <a:latin typeface="Arial" panose="020B0604020202020204" pitchFamily="34" charset="0"/>
              </a:rPr>
              <a:t>the test home page </a:t>
            </a:r>
            <a:r>
              <a:rPr lang="en-US" sz="1800" b="0" i="0" u="none" strike="noStrike" baseline="0" dirty="0">
                <a:solidFill>
                  <a:srgbClr val="000000"/>
                </a:solidFill>
                <a:latin typeface="Arial" panose="020B0604020202020204" pitchFamily="34" charset="0"/>
              </a:rPr>
              <a:t>can be a simple one containing </a:t>
            </a:r>
            <a:r>
              <a:rPr lang="en-US" sz="1800" b="0" i="0" u="none" strike="noStrike" baseline="0" dirty="0">
                <a:solidFill>
                  <a:srgbClr val="000000"/>
                </a:solidFill>
                <a:latin typeface="Courier New" panose="02070309020205020404" pitchFamily="49" charset="0"/>
              </a:rPr>
              <a:t>o </a:t>
            </a:r>
            <a:r>
              <a:rPr lang="en-US" sz="1800" b="0" i="0" u="none" strike="noStrike" baseline="0" dirty="0">
                <a:solidFill>
                  <a:srgbClr val="000000"/>
                </a:solidFill>
                <a:latin typeface="Arial" panose="020B0604020202020204" pitchFamily="34" charset="0"/>
              </a:rPr>
              <a:t>Class, section and team identification </a:t>
            </a:r>
          </a:p>
          <a:p>
            <a:endParaRPr lang="en-US" sz="1800" b="0" i="0" u="none" strike="noStrike" baseline="0" dirty="0">
              <a:solidFill>
                <a:srgbClr val="000000"/>
              </a:solidFill>
              <a:latin typeface="Arial" panose="020B0604020202020204" pitchFamily="34" charset="0"/>
            </a:endParaRPr>
          </a:p>
          <a:p>
            <a:r>
              <a:rPr lang="en-US" sz="1800" b="0" i="0" u="none" strike="noStrike" baseline="0" dirty="0">
                <a:solidFill>
                  <a:srgbClr val="000000"/>
                </a:solidFill>
                <a:latin typeface="Courier New" panose="02070309020205020404" pitchFamily="49" charset="0"/>
              </a:rPr>
              <a:t>o </a:t>
            </a:r>
            <a:r>
              <a:rPr lang="en-US" sz="1800" b="0" i="0" u="none" strike="noStrike" baseline="0" dirty="0">
                <a:solidFill>
                  <a:srgbClr val="000000"/>
                </a:solidFill>
                <a:latin typeface="Arial" panose="020B0604020202020204" pitchFamily="34" charset="0"/>
              </a:rPr>
              <a:t>One </a:t>
            </a:r>
            <a:r>
              <a:rPr lang="en-US" sz="1800" b="1" i="0" u="none" strike="noStrike" baseline="0" dirty="0">
                <a:solidFill>
                  <a:srgbClr val="000000"/>
                </a:solidFill>
                <a:latin typeface="Arial" panose="020B0604020202020204" pitchFamily="34" charset="0"/>
              </a:rPr>
              <a:t>free text </a:t>
            </a:r>
            <a:r>
              <a:rPr lang="en-US" sz="1800" b="0" i="0" u="none" strike="noStrike" baseline="0" dirty="0">
                <a:solidFill>
                  <a:srgbClr val="000000"/>
                </a:solidFill>
                <a:latin typeface="Arial" panose="020B0604020202020204" pitchFamily="34" charset="0"/>
              </a:rPr>
              <a:t>entry field (this text is then used in SQL %LIKE search – check architecture slides) </a:t>
            </a:r>
          </a:p>
          <a:p>
            <a:r>
              <a:rPr lang="en-US" sz="1800" b="0" i="0" u="none" strike="noStrike" baseline="0" dirty="0">
                <a:solidFill>
                  <a:srgbClr val="000000"/>
                </a:solidFill>
                <a:latin typeface="Courier New" panose="02070309020205020404" pitchFamily="49" charset="0"/>
              </a:rPr>
              <a:t>o </a:t>
            </a:r>
            <a:r>
              <a:rPr lang="en-US" sz="1800" b="0" i="0" u="none" strike="noStrike" baseline="0" dirty="0">
                <a:solidFill>
                  <a:srgbClr val="000000"/>
                </a:solidFill>
                <a:latin typeface="Arial" panose="020B0604020202020204" pitchFamily="34" charset="0"/>
              </a:rPr>
              <a:t>One </a:t>
            </a:r>
            <a:r>
              <a:rPr lang="en-US" sz="1800" b="1" i="0" u="none" strike="noStrike" baseline="0" dirty="0">
                <a:solidFill>
                  <a:srgbClr val="000000"/>
                </a:solidFill>
                <a:latin typeface="Arial" panose="020B0604020202020204" pitchFamily="34" charset="0"/>
              </a:rPr>
              <a:t>pull down </a:t>
            </a:r>
            <a:r>
              <a:rPr lang="en-US" sz="1800" b="0" i="0" u="none" strike="noStrike" baseline="0" dirty="0">
                <a:solidFill>
                  <a:srgbClr val="000000"/>
                </a:solidFill>
                <a:latin typeface="Arial" panose="020B0604020202020204" pitchFamily="34" charset="0"/>
              </a:rPr>
              <a:t>for 2-3 search parameter (like main search category like student type, major, demographics, etc.) – this is exercised using simple SQL filter – see architecture slides </a:t>
            </a:r>
          </a:p>
          <a:p>
            <a:endParaRPr lang="en-US" sz="1800" b="0" i="0" u="none" strike="noStrike" baseline="0" dirty="0">
              <a:solidFill>
                <a:srgbClr val="000000"/>
              </a:solidFill>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25</a:t>
            </a:fld>
            <a:endParaRPr lang="en-US" dirty="0"/>
          </a:p>
        </p:txBody>
      </p:sp>
    </p:spTree>
    <p:extLst>
      <p:ext uri="{BB962C8B-B14F-4D97-AF65-F5344CB8AC3E}">
        <p14:creationId xmlns:p14="http://schemas.microsoft.com/office/powerpoint/2010/main" val="2565476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26</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402040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011932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639288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19404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3367794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728820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30363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056778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72613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96940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071300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11904" y="4650539"/>
            <a:ext cx="3401478" cy="1192038"/>
          </a:xfrm>
          <a:solidFill>
            <a:schemeClr val="tx1"/>
          </a:solidFill>
        </p:spPr>
        <p:txBody>
          <a:bodyPr lIns="252000" tIns="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94316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4130172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Programming_style"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www.multidots.com/importance-of-code-quality-and-coding-standard-in-software-development/"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hyperlink" Target="https://google.github.io/styleguide/cppguide.html" TargetMode="External"/><Relationship Id="rId3" Type="http://schemas.openxmlformats.org/officeDocument/2006/relationships/hyperlink" Target="http://www.oracle.com/technetwork/java/codeconventions-150003.pdf" TargetMode="External"/><Relationship Id="rId7" Type="http://schemas.openxmlformats.org/officeDocument/2006/relationships/hyperlink" Target="https://google.github.io/styleguide/pyguide.html"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python.org/dev/peps/pep-0008/" TargetMode="External"/><Relationship Id="rId11" Type="http://schemas.openxmlformats.org/officeDocument/2006/relationships/hyperlink" Target="https://www.smashingmagazine.com/2008/11/12-principles-for-keeping-your-code-clean/" TargetMode="External"/><Relationship Id="rId5" Type="http://schemas.openxmlformats.org/officeDocument/2006/relationships/hyperlink" Target="https://pear.php.net/manual/en/standards.php" TargetMode="External"/><Relationship Id="rId10" Type="http://schemas.openxmlformats.org/officeDocument/2006/relationships/hyperlink" Target="https://google.github.io/styleguide/htmlcssguide.html" TargetMode="External"/><Relationship Id="rId4" Type="http://schemas.openxmlformats.org/officeDocument/2006/relationships/hyperlink" Target="https://github.com/twitter/commons/blob/master/src/java/com/twitter/common/styleguide.md" TargetMode="External"/><Relationship Id="rId9" Type="http://schemas.openxmlformats.org/officeDocument/2006/relationships/hyperlink" Target="https://www.w3schools.com/html/html5_syntax.asp"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oogle.github.io/styleguide/javaguide.html" TargetMode="External"/><Relationship Id="rId2" Type="http://schemas.openxmlformats.org/officeDocument/2006/relationships/hyperlink" Target="https://google.github.io/styleguide/cppguide.html" TargetMode="External"/><Relationship Id="rId1" Type="http://schemas.openxmlformats.org/officeDocument/2006/relationships/slideLayout" Target="../slideLayouts/slideLayout13.xml"/><Relationship Id="rId4" Type="http://schemas.openxmlformats.org/officeDocument/2006/relationships/hyperlink" Target="https://google.github.io/styleguide/pyguide.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hyperlink" Target="https://en.wikibooks.org/wiki/PHP_Programming/Coding_Standards" TargetMode="External"/><Relationship Id="rId7" Type="http://schemas.openxmlformats.org/officeDocument/2006/relationships/hyperlink" Target="https://google.github.io/styleguide/cppguide.html" TargetMode="External"/><Relationship Id="rId2" Type="http://schemas.openxmlformats.org/officeDocument/2006/relationships/hyperlink" Target="https://pear.php.net/manual/en/standards.header.php" TargetMode="External"/><Relationship Id="rId1" Type="http://schemas.openxmlformats.org/officeDocument/2006/relationships/slideLayout" Target="../slideLayouts/slideLayout13.xml"/><Relationship Id="rId6" Type="http://schemas.openxmlformats.org/officeDocument/2006/relationships/hyperlink" Target="https://legacy.python.org/dev/peps/pep-0008/" TargetMode="External"/><Relationship Id="rId5" Type="http://schemas.openxmlformats.org/officeDocument/2006/relationships/hyperlink" Target="https://google.github.io/styleguide/pyguide.html" TargetMode="External"/><Relationship Id="rId4" Type="http://schemas.openxmlformats.org/officeDocument/2006/relationships/hyperlink" Target="http://www.oracle.com/technetwork/java/javase/documentation/codeconventions-141999.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doxygen.nl/index.html" TargetMode="External"/><Relationship Id="rId2" Type="http://schemas.openxmlformats.org/officeDocument/2006/relationships/hyperlink" Target="https://en.wikipedia.org/wiki/Comparison_of_documentation_generators" TargetMode="External"/><Relationship Id="rId1" Type="http://schemas.openxmlformats.org/officeDocument/2006/relationships/slideLayout" Target="../slideLayouts/slideLayout13.xml"/><Relationship Id="rId5" Type="http://schemas.openxmlformats.org/officeDocument/2006/relationships/hyperlink" Target="https://youtu.be/44Ja2X_fzv4" TargetMode="External"/><Relationship Id="rId4" Type="http://schemas.openxmlformats.org/officeDocument/2006/relationships/hyperlink" Target="http://www.doxygen.nl/manual/docblocks.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erlang/otp/wiki/writing-good-commit-messages" TargetMode="Externa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wiki.sei.cmu.edu/confluence/pages/viewpage.action?pageId=88487865" TargetMode="External"/><Relationship Id="rId2" Type="http://schemas.openxmlformats.org/officeDocument/2006/relationships/hyperlink" Target="https://www.securecoding.cert.org/confluence/display/seccode/SEI+CERT+Coding+Standards" TargetMode="External"/><Relationship Id="rId1" Type="http://schemas.openxmlformats.org/officeDocument/2006/relationships/slideLayout" Target="../slideLayouts/slideLayout13.xml"/><Relationship Id="rId4" Type="http://schemas.openxmlformats.org/officeDocument/2006/relationships/hyperlink" Target="https://1000hz.github.io/bootstrap-validator/"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144000" cy="1384995"/>
          </a:xfrm>
        </p:spPr>
        <p:txBody>
          <a:bodyPr lIns="0" tIns="0" rIns="0" bIns="0" anchor="t">
            <a:spAutoFit/>
          </a:bodyPr>
          <a:lstStyle/>
          <a:p>
            <a:r>
              <a:rPr lang="en-US" b="1" dirty="0">
                <a:solidFill>
                  <a:schemeClr val="bg1"/>
                </a:solidFill>
              </a:rPr>
              <a:t>Software Engineering</a:t>
            </a:r>
            <a:br>
              <a:rPr lang="en-US" dirty="0">
                <a:solidFill>
                  <a:schemeClr val="bg1"/>
                </a:solidFill>
              </a:rPr>
            </a:br>
            <a:r>
              <a:rPr lang="en-US" sz="4000" dirty="0">
                <a:solidFill>
                  <a:schemeClr val="accent4"/>
                </a:solidFill>
              </a:rPr>
              <a:t>CSC648/848</a:t>
            </a:r>
            <a:endParaRPr lang="en-US" dirty="0">
              <a:solidFill>
                <a:schemeClr val="accent4"/>
              </a:solidFill>
            </a:endParaRPr>
          </a:p>
        </p:txBody>
      </p:sp>
      <p:pic>
        <p:nvPicPr>
          <p:cNvPr id="6" name="Picture 5" descr="A close up of a sign&#10;&#10;Description automatically generated">
            <a:extLst>
              <a:ext uri="{FF2B5EF4-FFF2-40B4-BE49-F238E27FC236}">
                <a16:creationId xmlns:a16="http://schemas.microsoft.com/office/drawing/2014/main" id="{B01F7014-9580-41D7-9777-1EE19794D8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8277" y="752604"/>
            <a:ext cx="1298448" cy="1828800"/>
          </a:xfrm>
          <a:prstGeom prst="rect">
            <a:avLst/>
          </a:prstGeom>
        </p:spPr>
      </p:pic>
    </p:spTree>
    <p:extLst>
      <p:ext uri="{BB962C8B-B14F-4D97-AF65-F5344CB8AC3E}">
        <p14:creationId xmlns:p14="http://schemas.microsoft.com/office/powerpoint/2010/main" val="2450480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2F2BFDF-E9F2-4569-A9F2-E1FFCB7FB82D}"/>
              </a:ext>
            </a:extLst>
          </p:cNvPr>
          <p:cNvSpPr txBox="1"/>
          <p:nvPr/>
        </p:nvSpPr>
        <p:spPr>
          <a:xfrm>
            <a:off x="5422694" y="3941638"/>
            <a:ext cx="1662546" cy="404658"/>
          </a:xfrm>
          <a:prstGeom prst="rect">
            <a:avLst/>
          </a:prstGeom>
          <a:noFill/>
        </p:spPr>
        <p:txBody>
          <a:bodyPr wrap="square" lIns="0" tIns="36000" rIns="0" bIns="0" rtlCol="0">
            <a:spAutoFit/>
          </a:bodyPr>
          <a:lstStyle/>
          <a:p>
            <a:pPr marL="0" marR="0" lvl="0" indent="0" algn="r" defTabSz="914400" rtl="0" eaLnBrk="1" fontAlgn="auto" latinLnBrk="0" hangingPunct="1">
              <a:lnSpc>
                <a:spcPts val="1400"/>
              </a:lnSpc>
              <a:spcBef>
                <a:spcPts val="0"/>
              </a:spcBef>
              <a:spcAft>
                <a:spcPts val="0"/>
              </a:spcAft>
              <a:buClrTx/>
              <a:buSzTx/>
              <a:buFontTx/>
              <a:buNone/>
              <a:tabLst/>
              <a:defRPr/>
            </a:pPr>
            <a:r>
              <a:rPr kumimoji="0" lang="en-US" sz="1600" b="1" i="0" u="none" strike="noStrike" kern="1200" cap="none" spc="-100" normalizeH="0" baseline="0" noProof="0" dirty="0">
                <a:ln>
                  <a:noFill/>
                </a:ln>
                <a:solidFill>
                  <a:srgbClr val="000000">
                    <a:lumMod val="50000"/>
                    <a:lumOff val="50000"/>
                  </a:srgbClr>
                </a:solidFill>
                <a:effectLst/>
                <a:uLnTx/>
                <a:uFillTx/>
                <a:latin typeface="Corbel" panose="020B0503020204020204" pitchFamily="34" charset="0"/>
                <a:ea typeface="+mn-ea"/>
                <a:cs typeface="+mn-cs"/>
              </a:rPr>
              <a:t>Henry </a:t>
            </a:r>
            <a:br>
              <a:rPr kumimoji="0" lang="en-US" sz="1600" b="1" i="0" u="none" strike="noStrike" kern="1200" cap="none" spc="-100" normalizeH="0" baseline="0" noProof="0" dirty="0">
                <a:ln>
                  <a:noFill/>
                </a:ln>
                <a:solidFill>
                  <a:srgbClr val="000000">
                    <a:lumMod val="50000"/>
                    <a:lumOff val="50000"/>
                  </a:srgbClr>
                </a:solidFill>
                <a:effectLst/>
                <a:uLnTx/>
                <a:uFillTx/>
                <a:latin typeface="Corbel" panose="020B0503020204020204" pitchFamily="34" charset="0"/>
                <a:ea typeface="+mn-ea"/>
                <a:cs typeface="+mn-cs"/>
              </a:rPr>
            </a:br>
            <a:r>
              <a:rPr kumimoji="0" lang="en-US" sz="1600" b="1" i="0" u="none" strike="noStrike" kern="1200" cap="none" spc="-100" normalizeH="0" baseline="0" noProof="0" dirty="0">
                <a:ln>
                  <a:noFill/>
                </a:ln>
                <a:solidFill>
                  <a:srgbClr val="000000"/>
                </a:solidFill>
                <a:effectLst/>
                <a:uLnTx/>
                <a:uFillTx/>
                <a:latin typeface="Corbel" panose="020B0503020204020204" pitchFamily="34" charset="0"/>
                <a:ea typeface="+mn-ea"/>
                <a:cs typeface="+mn-cs"/>
              </a:rPr>
              <a:t>VILLAR</a:t>
            </a:r>
          </a:p>
        </p:txBody>
      </p:sp>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normAutofit/>
          </a:bodyPr>
          <a:lstStyle/>
          <a:p>
            <a:r>
              <a:rPr lang="en-US" dirty="0">
                <a:cs typeface="Times New Roman" pitchFamily="18" charset="0"/>
              </a:rPr>
              <a:t>Coding STYLE</a:t>
            </a:r>
            <a:endParaRPr lang="en-US" dirty="0"/>
          </a:p>
        </p:txBody>
      </p:sp>
      <p:pic>
        <p:nvPicPr>
          <p:cNvPr id="35" name="Picture Placeholder 34" descr="A building with a green field&#10;&#10;Description automatically generated">
            <a:extLst>
              <a:ext uri="{FF2B5EF4-FFF2-40B4-BE49-F238E27FC236}">
                <a16:creationId xmlns:a16="http://schemas.microsoft.com/office/drawing/2014/main" id="{E383B3B2-3CA8-4564-84A7-2075DA384CB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0254" r="40254"/>
          <a:stretch>
            <a:fillRect/>
          </a:stretch>
        </p:blipFill>
        <p:spPr/>
      </p:pic>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p:txBody>
          <a:bodyPr/>
          <a:lstStyle/>
          <a:p>
            <a:r>
              <a:rPr lang="en-US" dirty="0"/>
              <a:t>and Coding Best Practices</a:t>
            </a:r>
          </a:p>
        </p:txBody>
      </p:sp>
    </p:spTree>
    <p:extLst>
      <p:ext uri="{BB962C8B-B14F-4D97-AF65-F5344CB8AC3E}">
        <p14:creationId xmlns:p14="http://schemas.microsoft.com/office/powerpoint/2010/main" val="389996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Objective</a:t>
            </a:r>
          </a:p>
        </p:txBody>
      </p:sp>
      <p:sp>
        <p:nvSpPr>
          <p:cNvPr id="3" name="Content Placeholder 2"/>
          <p:cNvSpPr>
            <a:spLocks noGrp="1"/>
          </p:cNvSpPr>
          <p:nvPr>
            <p:ph idx="1"/>
          </p:nvPr>
        </p:nvSpPr>
        <p:spPr>
          <a:xfrm>
            <a:off x="1981200" y="1600200"/>
            <a:ext cx="8229600" cy="4953000"/>
          </a:xfrm>
        </p:spPr>
        <p:txBody>
          <a:bodyPr>
            <a:normAutofit/>
          </a:bodyPr>
          <a:lstStyle/>
          <a:p>
            <a:r>
              <a:rPr lang="en-US" dirty="0">
                <a:latin typeface="Times New Roman" pitchFamily="18" charset="0"/>
                <a:cs typeface="Times New Roman" pitchFamily="18" charset="0"/>
              </a:rPr>
              <a:t>Define Coding Style </a:t>
            </a:r>
          </a:p>
          <a:p>
            <a:r>
              <a:rPr lang="en-US" dirty="0">
                <a:latin typeface="Times New Roman" pitchFamily="18" charset="0"/>
                <a:cs typeface="Times New Roman" pitchFamily="18" charset="0"/>
              </a:rPr>
              <a:t>Analyze Benefits</a:t>
            </a:r>
          </a:p>
          <a:p>
            <a:r>
              <a:rPr lang="en-US" dirty="0">
                <a:latin typeface="Times New Roman" pitchFamily="18" charset="0"/>
                <a:cs typeface="Times New Roman" pitchFamily="18" charset="0"/>
              </a:rPr>
              <a:t>Best Practices for:</a:t>
            </a:r>
          </a:p>
          <a:p>
            <a:pPr lvl="1"/>
            <a:r>
              <a:rPr lang="en-US" dirty="0">
                <a:latin typeface="Times New Roman" pitchFamily="18" charset="0"/>
                <a:cs typeface="Times New Roman" pitchFamily="18" charset="0"/>
              </a:rPr>
              <a:t>Formatting</a:t>
            </a:r>
          </a:p>
          <a:p>
            <a:pPr lvl="1"/>
            <a:r>
              <a:rPr lang="en-US" dirty="0">
                <a:latin typeface="Times New Roman" pitchFamily="18" charset="0"/>
                <a:cs typeface="Times New Roman" pitchFamily="18" charset="0"/>
              </a:rPr>
              <a:t>Style</a:t>
            </a:r>
          </a:p>
          <a:p>
            <a:pPr lvl="1"/>
            <a:r>
              <a:rPr lang="en-US" dirty="0">
                <a:latin typeface="Times New Roman" pitchFamily="18" charset="0"/>
                <a:cs typeface="Times New Roman" pitchFamily="18" charset="0"/>
              </a:rPr>
              <a:t>Documentation</a:t>
            </a:r>
          </a:p>
          <a:p>
            <a:pPr lvl="1"/>
            <a:r>
              <a:rPr lang="en-US" dirty="0">
                <a:latin typeface="Times New Roman" pitchFamily="18" charset="0"/>
                <a:cs typeface="Times New Roman" pitchFamily="18" charset="0"/>
              </a:rPr>
              <a:t>Coding for security</a:t>
            </a:r>
          </a:p>
          <a:p>
            <a:pPr lvl="1"/>
            <a:r>
              <a:rPr lang="en-US" dirty="0">
                <a:latin typeface="Times New Roman" pitchFamily="18" charset="0"/>
                <a:cs typeface="Times New Roman" pitchFamily="18" charset="0"/>
              </a:rPr>
              <a:t>References to use (often language specific) – note: tools/standards change in time</a:t>
            </a:r>
          </a:p>
          <a:p>
            <a:pPr lvl="1"/>
            <a:r>
              <a:rPr lang="en-US" dirty="0">
                <a:latin typeface="Times New Roman" pitchFamily="18" charset="0"/>
                <a:cs typeface="Times New Roman" pitchFamily="18" charset="0"/>
              </a:rPr>
              <a:t>How to enforce coding style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752600" y="990600"/>
            <a:ext cx="8778240" cy="5486400"/>
          </a:xfrm>
          <a:prstGeom prst="rect">
            <a:avLst/>
          </a:prstGeom>
          <a:noFill/>
          <a:ln w="9525">
            <a:noFill/>
            <a:miter lim="800000"/>
            <a:headEnd/>
            <a:tailEnd/>
          </a:ln>
        </p:spPr>
      </p:pic>
      <p:sp>
        <p:nvSpPr>
          <p:cNvPr id="6" name="TextBox 5"/>
          <p:cNvSpPr txBox="1"/>
          <p:nvPr/>
        </p:nvSpPr>
        <p:spPr>
          <a:xfrm>
            <a:off x="4648201" y="304800"/>
            <a:ext cx="3073149" cy="523220"/>
          </a:xfrm>
          <a:prstGeom prst="rect">
            <a:avLst/>
          </a:prstGeom>
          <a:noFill/>
        </p:spPr>
        <p:txBody>
          <a:bodyPr wrap="none" rtlCol="0">
            <a:spAutoFit/>
          </a:bodyPr>
          <a:lstStyle/>
          <a:p>
            <a:r>
              <a:rPr lang="en-US" sz="2800" b="1" dirty="0"/>
              <a:t>What is this about?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828800" y="1066800"/>
            <a:ext cx="8656320" cy="5410200"/>
          </a:xfrm>
          <a:prstGeom prst="rect">
            <a:avLst/>
          </a:prstGeom>
          <a:noFill/>
          <a:ln w="9525">
            <a:noFill/>
            <a:miter lim="800000"/>
            <a:headEnd/>
            <a:tailEnd/>
          </a:ln>
        </p:spPr>
      </p:pic>
      <p:sp>
        <p:nvSpPr>
          <p:cNvPr id="3" name="TextBox 2"/>
          <p:cNvSpPr txBox="1"/>
          <p:nvPr/>
        </p:nvSpPr>
        <p:spPr>
          <a:xfrm>
            <a:off x="3352801" y="457201"/>
            <a:ext cx="6154955" cy="461665"/>
          </a:xfrm>
          <a:prstGeom prst="rect">
            <a:avLst/>
          </a:prstGeom>
          <a:noFill/>
        </p:spPr>
        <p:txBody>
          <a:bodyPr wrap="none" rtlCol="0">
            <a:spAutoFit/>
          </a:bodyPr>
          <a:lstStyle/>
          <a:p>
            <a:r>
              <a:rPr lang="en-US" sz="2400" b="1" dirty="0"/>
              <a:t>Now you know – so style and formatting helps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Why coding style?</a:t>
            </a:r>
          </a:p>
        </p:txBody>
      </p:sp>
      <p:sp>
        <p:nvSpPr>
          <p:cNvPr id="3" name="Content Placeholder 2"/>
          <p:cNvSpPr>
            <a:spLocks noGrp="1"/>
          </p:cNvSpPr>
          <p:nvPr>
            <p:ph idx="1"/>
          </p:nvPr>
        </p:nvSpPr>
        <p:spPr>
          <a:xfrm>
            <a:off x="838200" y="1825625"/>
            <a:ext cx="10515600" cy="2459936"/>
          </a:xfrm>
        </p:spPr>
        <p:txBody>
          <a:bodyPr/>
          <a:lstStyle/>
          <a:p>
            <a:r>
              <a:rPr lang="en-US" dirty="0">
                <a:latin typeface="Times New Roman" pitchFamily="18" charset="0"/>
                <a:cs typeface="Times New Roman" pitchFamily="18" charset="0"/>
              </a:rPr>
              <a:t>Most time in SW lifecycle is spend on the maintenance phase</a:t>
            </a:r>
          </a:p>
          <a:p>
            <a:r>
              <a:rPr lang="en-US" dirty="0">
                <a:latin typeface="Times New Roman" pitchFamily="18" charset="0"/>
                <a:cs typeface="Times New Roman" pitchFamily="18" charset="0"/>
              </a:rPr>
              <a:t>This is mostly done by HUMANS </a:t>
            </a:r>
            <a:r>
              <a:rPr lang="en-US" dirty="0">
                <a:latin typeface="Times New Roman" pitchFamily="18" charset="0"/>
                <a:cs typeface="Times New Roman" pitchFamily="18" charset="0"/>
                <a:sym typeface="Wingdings" pitchFamily="2" charset="2"/>
              </a:rPr>
              <a:t> code readability helps</a:t>
            </a:r>
          </a:p>
          <a:p>
            <a:r>
              <a:rPr lang="en-US" dirty="0">
                <a:latin typeface="Times New Roman" pitchFamily="18" charset="0"/>
                <a:cs typeface="Times New Roman" pitchFamily="18" charset="0"/>
                <a:sym typeface="Wingdings" pitchFamily="2" charset="2"/>
              </a:rPr>
              <a:t>Most time you maintain code of somebody else (and not easy to contact)</a:t>
            </a:r>
          </a:p>
          <a:p>
            <a:pPr lvl="1"/>
            <a:r>
              <a:rPr lang="en-US" dirty="0">
                <a:latin typeface="Times New Roman" pitchFamily="18" charset="0"/>
                <a:cs typeface="Times New Roman" pitchFamily="18" charset="0"/>
                <a:sym typeface="Wingdings" pitchFamily="2" charset="2"/>
              </a:rPr>
              <a:t>Also: Ask yourself if you understand the code YOU wrote months ago…</a:t>
            </a:r>
            <a:endParaRPr lang="en-US" dirty="0">
              <a:latin typeface="Times New Roman" pitchFamily="18" charset="0"/>
              <a:cs typeface="Times New Roman" pitchFamily="18" charset="0"/>
            </a:endParaRPr>
          </a:p>
        </p:txBody>
      </p:sp>
      <p:sp>
        <p:nvSpPr>
          <p:cNvPr id="4" name="TextBox 3"/>
          <p:cNvSpPr txBox="1"/>
          <p:nvPr/>
        </p:nvSpPr>
        <p:spPr>
          <a:xfrm>
            <a:off x="10535817" y="244836"/>
            <a:ext cx="1255537" cy="400110"/>
          </a:xfrm>
          <a:prstGeom prst="rect">
            <a:avLst/>
          </a:prstGeom>
          <a:noFill/>
        </p:spPr>
        <p:txBody>
          <a:bodyPr wrap="none" rtlCol="0">
            <a:spAutoFit/>
          </a:bodyPr>
          <a:lstStyle/>
          <a:p>
            <a:r>
              <a:rPr lang="en-US" sz="2000" dirty="0">
                <a:solidFill>
                  <a:srgbClr val="FF0000"/>
                </a:solidFill>
              </a:rPr>
              <a:t>Important</a:t>
            </a:r>
          </a:p>
        </p:txBody>
      </p:sp>
      <p:sp>
        <p:nvSpPr>
          <p:cNvPr id="5" name="Content Placeholder 2">
            <a:extLst>
              <a:ext uri="{FF2B5EF4-FFF2-40B4-BE49-F238E27FC236}">
                <a16:creationId xmlns:a16="http://schemas.microsoft.com/office/drawing/2014/main" id="{CDDC4C76-9863-454C-A6DA-CE33B60E4221}"/>
              </a:ext>
            </a:extLst>
          </p:cNvPr>
          <p:cNvSpPr txBox="1">
            <a:spLocks/>
          </p:cNvSpPr>
          <p:nvPr/>
        </p:nvSpPr>
        <p:spPr>
          <a:xfrm>
            <a:off x="821143" y="4148217"/>
            <a:ext cx="10515600" cy="2459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What is it? </a:t>
            </a:r>
            <a:r>
              <a:rPr lang="en-US" dirty="0"/>
              <a:t>Programming style, also known as code style, is a set of rules or guidelines used when writing the source code for a computer program. It is often claimed that following a particular programming style will help programmers read and understand source code conforming to the style, and help to avoid introducing errors. </a:t>
            </a:r>
            <a:r>
              <a:rPr lang="en-US" dirty="0">
                <a:hlinkClick r:id="rId3"/>
              </a:rPr>
              <a:t>Wikipedia</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E9A0B-A3DC-44A2-93BB-CAEF8815BD1F}"/>
              </a:ext>
            </a:extLst>
          </p:cNvPr>
          <p:cNvSpPr>
            <a:spLocks noGrp="1"/>
          </p:cNvSpPr>
          <p:nvPr>
            <p:ph type="title"/>
          </p:nvPr>
        </p:nvSpPr>
        <p:spPr/>
        <p:txBody>
          <a:bodyPr>
            <a:normAutofit/>
          </a:bodyPr>
          <a:lstStyle/>
          <a:p>
            <a:r>
              <a:rPr lang="en-US" dirty="0"/>
              <a:t>SW Engineering Process Components</a:t>
            </a:r>
            <a:br>
              <a:rPr lang="en-US" dirty="0"/>
            </a:br>
            <a:r>
              <a:rPr lang="en-US" dirty="0"/>
              <a:t>(Lifecycle)</a:t>
            </a:r>
          </a:p>
        </p:txBody>
      </p:sp>
      <p:graphicFrame>
        <p:nvGraphicFramePr>
          <p:cNvPr id="4" name="Content Placeholder 3">
            <a:extLst>
              <a:ext uri="{FF2B5EF4-FFF2-40B4-BE49-F238E27FC236}">
                <a16:creationId xmlns:a16="http://schemas.microsoft.com/office/drawing/2014/main" id="{EAD99F09-3AD2-49AE-9A7F-D0F1DBB7269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44486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E9A0B-A3DC-44A2-93BB-CAEF8815BD1F}"/>
              </a:ext>
            </a:extLst>
          </p:cNvPr>
          <p:cNvSpPr>
            <a:spLocks noGrp="1"/>
          </p:cNvSpPr>
          <p:nvPr>
            <p:ph type="title"/>
          </p:nvPr>
        </p:nvSpPr>
        <p:spPr/>
        <p:txBody>
          <a:bodyPr>
            <a:normAutofit/>
          </a:bodyPr>
          <a:lstStyle/>
          <a:p>
            <a:r>
              <a:rPr lang="en-US" dirty="0"/>
              <a:t>SW Engineering Process Components (Lifecycle)</a:t>
            </a:r>
          </a:p>
        </p:txBody>
      </p:sp>
      <p:graphicFrame>
        <p:nvGraphicFramePr>
          <p:cNvPr id="4" name="Content Placeholder 3">
            <a:extLst>
              <a:ext uri="{FF2B5EF4-FFF2-40B4-BE49-F238E27FC236}">
                <a16:creationId xmlns:a16="http://schemas.microsoft.com/office/drawing/2014/main" id="{EAD99F09-3AD2-49AE-9A7F-D0F1DBB72692}"/>
              </a:ext>
            </a:extLst>
          </p:cNvPr>
          <p:cNvGraphicFramePr>
            <a:graphicFrameLocks noGrp="1"/>
          </p:cNvGraphicFramePr>
          <p:nvPr>
            <p:ph idx="1"/>
            <p:extLst>
              <p:ext uri="{D42A27DB-BD31-4B8C-83A1-F6EECF244321}">
                <p14:modId xmlns:p14="http://schemas.microsoft.com/office/powerpoint/2010/main" val="163125542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717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Elements of coding style</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latin typeface="Times New Roman" pitchFamily="18" charset="0"/>
                <a:cs typeface="Times New Roman" pitchFamily="18" charset="0"/>
              </a:rPr>
              <a:t>Naming Conventions (variables, functions, classes)</a:t>
            </a:r>
          </a:p>
          <a:p>
            <a:pPr marL="514350" indent="-514350">
              <a:buFont typeface="+mj-lt"/>
              <a:buAutoNum type="arabicPeriod"/>
            </a:pPr>
            <a:r>
              <a:rPr lang="en-US" dirty="0">
                <a:latin typeface="Times New Roman" pitchFamily="18" charset="0"/>
                <a:cs typeface="Times New Roman" pitchFamily="18" charset="0"/>
              </a:rPr>
              <a:t>File Naming and Organization</a:t>
            </a:r>
          </a:p>
          <a:p>
            <a:pPr marL="514350" indent="-514350">
              <a:buFont typeface="+mj-lt"/>
              <a:buAutoNum type="arabicPeriod"/>
            </a:pPr>
            <a:r>
              <a:rPr lang="en-US" dirty="0">
                <a:latin typeface="Times New Roman" pitchFamily="18" charset="0"/>
                <a:cs typeface="Times New Roman" pitchFamily="18" charset="0"/>
              </a:rPr>
              <a:t>Code Formatting</a:t>
            </a:r>
          </a:p>
          <a:p>
            <a:pPr marL="514350" indent="-514350">
              <a:buFont typeface="+mj-lt"/>
              <a:buAutoNum type="arabicPeriod"/>
            </a:pPr>
            <a:r>
              <a:rPr lang="en-US" dirty="0">
                <a:latin typeface="Times New Roman" pitchFamily="18" charset="0"/>
                <a:cs typeface="Times New Roman" pitchFamily="18" charset="0"/>
              </a:rPr>
              <a:t>Code Comments</a:t>
            </a:r>
          </a:p>
          <a:p>
            <a:pPr marL="514350" indent="-514350">
              <a:buFont typeface="+mj-lt"/>
              <a:buAutoNum type="arabicPeriod"/>
            </a:pPr>
            <a:r>
              <a:rPr lang="en-US" dirty="0">
                <a:latin typeface="Times New Roman" pitchFamily="18" charset="0"/>
                <a:cs typeface="Times New Roman" pitchFamily="18" charset="0"/>
              </a:rPr>
              <a:t>Documentation</a:t>
            </a:r>
          </a:p>
          <a:p>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Coding practices</a:t>
            </a:r>
          </a:p>
          <a:p>
            <a:r>
              <a:rPr lang="en-US" dirty="0">
                <a:latin typeface="Times New Roman" pitchFamily="18" charset="0"/>
                <a:cs typeface="Times New Roman" pitchFamily="18" charset="0"/>
              </a:rPr>
              <a:t>Best practices in how to code e.g. for security</a:t>
            </a:r>
          </a:p>
        </p:txBody>
      </p:sp>
      <p:sp>
        <p:nvSpPr>
          <p:cNvPr id="4" name="TextBox 3"/>
          <p:cNvSpPr txBox="1"/>
          <p:nvPr/>
        </p:nvSpPr>
        <p:spPr>
          <a:xfrm>
            <a:off x="10587136" y="165070"/>
            <a:ext cx="1255537" cy="400110"/>
          </a:xfrm>
          <a:prstGeom prst="rect">
            <a:avLst/>
          </a:prstGeom>
          <a:noFill/>
        </p:spPr>
        <p:txBody>
          <a:bodyPr wrap="none" rtlCol="0">
            <a:spAutoFit/>
          </a:bodyPr>
          <a:lstStyle/>
          <a:p>
            <a:r>
              <a:rPr lang="en-US" sz="2000" dirty="0">
                <a:solidFill>
                  <a:srgbClr val="FF0000"/>
                </a:solidFill>
              </a:rPr>
              <a:t>Important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Benefits of good coding style</a:t>
            </a:r>
          </a:p>
        </p:txBody>
      </p:sp>
      <p:sp>
        <p:nvSpPr>
          <p:cNvPr id="3" name="Content Placeholder 2"/>
          <p:cNvSpPr>
            <a:spLocks noGrp="1"/>
          </p:cNvSpPr>
          <p:nvPr>
            <p:ph idx="1"/>
          </p:nvPr>
        </p:nvSpPr>
        <p:spPr/>
        <p:txBody>
          <a:bodyPr>
            <a:normAutofit/>
          </a:bodyPr>
          <a:lstStyle/>
          <a:p>
            <a:r>
              <a:rPr lang="en-US" dirty="0">
                <a:latin typeface="Times New Roman" pitchFamily="18" charset="0"/>
                <a:cs typeface="Times New Roman" pitchFamily="18" charset="0"/>
              </a:rPr>
              <a:t>Easier maintenance (big thing)</a:t>
            </a:r>
          </a:p>
          <a:p>
            <a:r>
              <a:rPr lang="en-US" dirty="0">
                <a:latin typeface="Times New Roman" pitchFamily="18" charset="0"/>
                <a:cs typeface="Times New Roman" pitchFamily="18" charset="0"/>
              </a:rPr>
              <a:t>Easier testing</a:t>
            </a:r>
          </a:p>
          <a:p>
            <a:r>
              <a:rPr lang="en-US" dirty="0">
                <a:latin typeface="Times New Roman" pitchFamily="18" charset="0"/>
                <a:cs typeface="Times New Roman" pitchFamily="18" charset="0"/>
              </a:rPr>
              <a:t>Easier optimization</a:t>
            </a:r>
          </a:p>
          <a:p>
            <a:r>
              <a:rPr lang="en-US" dirty="0">
                <a:latin typeface="Times New Roman" pitchFamily="18" charset="0"/>
                <a:cs typeface="Times New Roman" pitchFamily="18" charset="0"/>
              </a:rPr>
              <a:t>Easier portability</a:t>
            </a:r>
          </a:p>
          <a:p>
            <a:r>
              <a:rPr lang="en-US" dirty="0">
                <a:latin typeface="Times New Roman" pitchFamily="18" charset="0"/>
                <a:cs typeface="Times New Roman" pitchFamily="18" charset="0"/>
              </a:rPr>
              <a:t>Why coding style and benefits</a:t>
            </a:r>
          </a:p>
          <a:p>
            <a:pPr lvl="1"/>
            <a:r>
              <a:rPr lang="en-US" dirty="0">
                <a:latin typeface="Times New Roman" pitchFamily="18" charset="0"/>
                <a:cs typeface="Times New Roman" pitchFamily="18" charset="0"/>
                <a:hlinkClick r:id="rId3"/>
              </a:rPr>
              <a:t>https://www.multidots.com/importance-of-code-quality-and-coding-standard-in-software-development/</a:t>
            </a:r>
            <a:endParaRPr lang="en-US" dirty="0">
              <a:latin typeface="Times New Roman" pitchFamily="18" charset="0"/>
              <a:cs typeface="Times New Roman" pitchFamily="18" charset="0"/>
            </a:endParaRPr>
          </a:p>
          <a:p>
            <a:pPr lvl="1"/>
            <a:endParaRPr lang="en-US" dirty="0">
              <a:latin typeface="Times New Roman" pitchFamily="18" charset="0"/>
              <a:cs typeface="Times New Roman" pitchFamily="18" charset="0"/>
            </a:endParaRPr>
          </a:p>
        </p:txBody>
      </p:sp>
      <p:sp>
        <p:nvSpPr>
          <p:cNvPr id="4" name="TextBox 3"/>
          <p:cNvSpPr txBox="1"/>
          <p:nvPr/>
        </p:nvSpPr>
        <p:spPr>
          <a:xfrm>
            <a:off x="10607352" y="280927"/>
            <a:ext cx="1255537" cy="400110"/>
          </a:xfrm>
          <a:prstGeom prst="rect">
            <a:avLst/>
          </a:prstGeom>
          <a:noFill/>
        </p:spPr>
        <p:txBody>
          <a:bodyPr wrap="none" rtlCol="0">
            <a:spAutoFit/>
          </a:bodyPr>
          <a:lstStyle/>
          <a:p>
            <a:r>
              <a:rPr lang="en-US" sz="2000" dirty="0">
                <a:solidFill>
                  <a:srgbClr val="FF0000"/>
                </a:solidFill>
              </a:rPr>
              <a:t>Important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Specific coding styles….</a:t>
            </a:r>
          </a:p>
        </p:txBody>
      </p:sp>
      <p:sp>
        <p:nvSpPr>
          <p:cNvPr id="3" name="Content Placeholder 2"/>
          <p:cNvSpPr>
            <a:spLocks noGrp="1"/>
          </p:cNvSpPr>
          <p:nvPr>
            <p:ph idx="1"/>
          </p:nvPr>
        </p:nvSpPr>
        <p:spPr>
          <a:xfrm>
            <a:off x="925417" y="1539875"/>
            <a:ext cx="10267720" cy="4953000"/>
          </a:xfrm>
        </p:spPr>
        <p:txBody>
          <a:bodyPr>
            <a:normAutofit lnSpcReduction="10000"/>
          </a:bodyPr>
          <a:lstStyle/>
          <a:p>
            <a:r>
              <a:rPr lang="en-US" dirty="0">
                <a:latin typeface="Times New Roman" pitchFamily="18" charset="0"/>
                <a:cs typeface="Times New Roman" pitchFamily="18" charset="0"/>
              </a:rPr>
              <a:t>Often depend on languages</a:t>
            </a:r>
          </a:p>
          <a:p>
            <a:r>
              <a:rPr lang="en-US" dirty="0">
                <a:latin typeface="Times New Roman" pitchFamily="18" charset="0"/>
                <a:cs typeface="Times New Roman" pitchFamily="18" charset="0"/>
              </a:rPr>
              <a:t>Ton of good coding styles adopted and became de-facto standard</a:t>
            </a:r>
          </a:p>
          <a:p>
            <a:r>
              <a:rPr lang="en-US" dirty="0">
                <a:latin typeface="Times New Roman" pitchFamily="18" charset="0"/>
                <a:cs typeface="Times New Roman" pitchFamily="18" charset="0"/>
              </a:rPr>
              <a:t>Teams have to agree on coding style consistent with the company policy and best practices</a:t>
            </a:r>
          </a:p>
          <a:p>
            <a:r>
              <a:rPr lang="en-US" dirty="0">
                <a:latin typeface="Times New Roman" pitchFamily="18" charset="0"/>
                <a:cs typeface="Times New Roman" pitchFamily="18" charset="0"/>
              </a:rPr>
              <a:t>Standards change – follow them</a:t>
            </a:r>
          </a:p>
          <a:p>
            <a:r>
              <a:rPr lang="en-US" dirty="0">
                <a:latin typeface="Times New Roman" pitchFamily="18" charset="0"/>
                <a:cs typeface="Times New Roman" pitchFamily="18" charset="0"/>
              </a:rPr>
              <a:t>Enforce coding style by coding review</a:t>
            </a:r>
          </a:p>
          <a:p>
            <a:pPr lvl="1"/>
            <a:r>
              <a:rPr lang="en-US" dirty="0">
                <a:latin typeface="Times New Roman" pitchFamily="18" charset="0"/>
                <a:cs typeface="Times New Roman" pitchFamily="18" charset="0"/>
              </a:rPr>
              <a:t>(No coding style used </a:t>
            </a:r>
            <a:r>
              <a:rPr lang="en-US" dirty="0">
                <a:latin typeface="Times New Roman" pitchFamily="18" charset="0"/>
                <a:cs typeface="Times New Roman" pitchFamily="18" charset="0"/>
                <a:sym typeface="Wingdings" pitchFamily="2" charset="2"/>
              </a:rPr>
              <a:t> no submission!!!)</a:t>
            </a:r>
          </a:p>
          <a:p>
            <a:r>
              <a:rPr lang="en-US" dirty="0">
                <a:latin typeface="Times New Roman" pitchFamily="18" charset="0"/>
                <a:cs typeface="Times New Roman" pitchFamily="18" charset="0"/>
                <a:sym typeface="Wingdings" pitchFamily="2" charset="2"/>
              </a:rPr>
              <a:t>CSC 648-848: </a:t>
            </a:r>
          </a:p>
          <a:p>
            <a:pPr lvl="1"/>
            <a:r>
              <a:rPr lang="en-US" dirty="0">
                <a:latin typeface="Times New Roman" pitchFamily="18" charset="0"/>
                <a:cs typeface="Times New Roman" pitchFamily="18" charset="0"/>
                <a:sym typeface="Wingdings" pitchFamily="2" charset="2"/>
              </a:rPr>
              <a:t>Agree on a coding style after end of M2</a:t>
            </a:r>
          </a:p>
          <a:p>
            <a:pPr lvl="1"/>
            <a:r>
              <a:rPr lang="en-US" dirty="0">
                <a:latin typeface="Times New Roman" pitchFamily="18" charset="0"/>
                <a:cs typeface="Times New Roman" pitchFamily="18" charset="0"/>
                <a:sym typeface="Wingdings" pitchFamily="2" charset="2"/>
              </a:rPr>
              <a:t>Enforce it</a:t>
            </a:r>
          </a:p>
          <a:p>
            <a:pPr lvl="1"/>
            <a:r>
              <a:rPr lang="en-US" dirty="0">
                <a:latin typeface="Times New Roman" pitchFamily="18" charset="0"/>
                <a:cs typeface="Times New Roman" pitchFamily="18" charset="0"/>
                <a:sym typeface="Wingdings" pitchFamily="2" charset="2"/>
              </a:rPr>
              <a:t>Will be checked and graded for</a:t>
            </a:r>
            <a:endParaRPr lang="en-US" dirty="0">
              <a:latin typeface="Times New Roman" pitchFamily="18" charset="0"/>
              <a:cs typeface="Times New Roman" pitchFamily="18" charset="0"/>
            </a:endParaRPr>
          </a:p>
        </p:txBody>
      </p:sp>
      <p:sp>
        <p:nvSpPr>
          <p:cNvPr id="4" name="TextBox 3"/>
          <p:cNvSpPr txBox="1"/>
          <p:nvPr/>
        </p:nvSpPr>
        <p:spPr>
          <a:xfrm>
            <a:off x="10726031" y="250372"/>
            <a:ext cx="1255537" cy="400110"/>
          </a:xfrm>
          <a:prstGeom prst="rect">
            <a:avLst/>
          </a:prstGeom>
          <a:noFill/>
        </p:spPr>
        <p:txBody>
          <a:bodyPr wrap="none" rtlCol="0">
            <a:spAutoFit/>
          </a:bodyPr>
          <a:lstStyle/>
          <a:p>
            <a:r>
              <a:rPr lang="en-US" sz="2000" dirty="0">
                <a:solidFill>
                  <a:srgbClr val="FF0000"/>
                </a:solidFill>
              </a:rPr>
              <a:t>Important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Coding styles for Languages (examples)</a:t>
            </a:r>
          </a:p>
        </p:txBody>
      </p:sp>
      <p:sp>
        <p:nvSpPr>
          <p:cNvPr id="3" name="Content Placeholder 2"/>
          <p:cNvSpPr>
            <a:spLocks noGrp="1"/>
          </p:cNvSpPr>
          <p:nvPr>
            <p:ph idx="1"/>
          </p:nvPr>
        </p:nvSpPr>
        <p:spPr>
          <a:xfrm>
            <a:off x="1057619" y="1600200"/>
            <a:ext cx="9153181" cy="4525178"/>
          </a:xfrm>
        </p:spPr>
        <p:txBody>
          <a:bodyPr>
            <a:normAutofit fontScale="25000" lnSpcReduction="20000"/>
          </a:bodyPr>
          <a:lstStyle/>
          <a:p>
            <a:r>
              <a:rPr lang="en-US" sz="7200" dirty="0"/>
              <a:t>Java coding style</a:t>
            </a:r>
          </a:p>
          <a:p>
            <a:pPr lvl="1"/>
            <a:r>
              <a:rPr lang="en-US" sz="5600" u="sng" dirty="0">
                <a:hlinkClick r:id="rId3"/>
              </a:rPr>
              <a:t>http://www.oracle.com/technetwork/java/codeconventions-150003.pdf</a:t>
            </a:r>
            <a:r>
              <a:rPr lang="en-US" sz="5600" dirty="0"/>
              <a:t> </a:t>
            </a:r>
          </a:p>
          <a:p>
            <a:pPr lvl="1"/>
            <a:r>
              <a:rPr lang="en-US" sz="5600" u="sng" dirty="0">
                <a:hlinkClick r:id="rId4"/>
              </a:rPr>
              <a:t>https://github.com/twitter/commons/blob/master/src/java/com/twitter/common/styleguide.md</a:t>
            </a:r>
            <a:endParaRPr lang="en-US" sz="5600" dirty="0"/>
          </a:p>
          <a:p>
            <a:endParaRPr lang="en-US" sz="6400" dirty="0"/>
          </a:p>
          <a:p>
            <a:r>
              <a:rPr lang="en-US" sz="7200" dirty="0"/>
              <a:t>PHP coding style</a:t>
            </a:r>
          </a:p>
          <a:p>
            <a:pPr lvl="1"/>
            <a:r>
              <a:rPr lang="en-US" sz="5600" u="sng" dirty="0">
                <a:hlinkClick r:id="rId5"/>
              </a:rPr>
              <a:t>https://pear.php.net/manual/en/standards.php</a:t>
            </a:r>
            <a:endParaRPr lang="en-US" sz="5600" dirty="0"/>
          </a:p>
          <a:p>
            <a:pPr>
              <a:buNone/>
            </a:pPr>
            <a:r>
              <a:rPr lang="en-US" sz="6400" dirty="0"/>
              <a:t> </a:t>
            </a:r>
          </a:p>
          <a:p>
            <a:r>
              <a:rPr lang="en-US" sz="7200" dirty="0"/>
              <a:t>Python coding style</a:t>
            </a:r>
          </a:p>
          <a:p>
            <a:pPr lvl="1"/>
            <a:r>
              <a:rPr lang="en-US" sz="5600" u="sng" dirty="0">
                <a:hlinkClick r:id="rId6"/>
              </a:rPr>
              <a:t>https://www.python.org/dev/peps/pep-0008/</a:t>
            </a:r>
            <a:endParaRPr lang="en-US" sz="5600" dirty="0"/>
          </a:p>
          <a:p>
            <a:pPr lvl="1"/>
            <a:r>
              <a:rPr lang="en-US" sz="5600" u="sng" dirty="0">
                <a:hlinkClick r:id="rId7"/>
              </a:rPr>
              <a:t>https://google.github.io/styleguide/pyguide.html</a:t>
            </a:r>
            <a:r>
              <a:rPr lang="en-US" sz="5600" dirty="0"/>
              <a:t> </a:t>
            </a:r>
          </a:p>
          <a:p>
            <a:pPr>
              <a:buNone/>
            </a:pPr>
            <a:r>
              <a:rPr lang="en-US" sz="6400" dirty="0"/>
              <a:t> </a:t>
            </a:r>
          </a:p>
          <a:p>
            <a:r>
              <a:rPr lang="en-US" sz="7200" dirty="0"/>
              <a:t>C++ coding style</a:t>
            </a:r>
          </a:p>
          <a:p>
            <a:pPr lvl="1"/>
            <a:r>
              <a:rPr lang="en-US" sz="5600" u="sng" dirty="0">
                <a:hlinkClick r:id="rId8"/>
              </a:rPr>
              <a:t>https://google.github.io/styleguide/cppguide.html</a:t>
            </a:r>
            <a:endParaRPr lang="en-US" sz="5600" dirty="0"/>
          </a:p>
          <a:p>
            <a:pPr>
              <a:buNone/>
            </a:pPr>
            <a:r>
              <a:rPr lang="en-US" sz="6400" dirty="0"/>
              <a:t>  </a:t>
            </a:r>
          </a:p>
          <a:p>
            <a:r>
              <a:rPr lang="en-US" sz="7200" dirty="0"/>
              <a:t>HTML coding styles and checkers</a:t>
            </a:r>
          </a:p>
          <a:p>
            <a:pPr>
              <a:buNone/>
            </a:pPr>
            <a:r>
              <a:rPr lang="en-US" sz="6400" dirty="0"/>
              <a:t> </a:t>
            </a:r>
          </a:p>
          <a:p>
            <a:pPr lvl="1"/>
            <a:r>
              <a:rPr lang="en-US" sz="5600" u="sng" dirty="0">
                <a:hlinkClick r:id="rId9"/>
              </a:rPr>
              <a:t>https://www.w3schools.com/html/html5_syntax.asp</a:t>
            </a:r>
            <a:endParaRPr lang="en-US" sz="5600" dirty="0"/>
          </a:p>
          <a:p>
            <a:pPr lvl="1"/>
            <a:r>
              <a:rPr lang="en-US" sz="5600" u="sng" dirty="0">
                <a:hlinkClick r:id="rId10"/>
              </a:rPr>
              <a:t>https://google.github.io/styleguide/htmlcssguide.html</a:t>
            </a:r>
            <a:r>
              <a:rPr lang="en-US" sz="5600" dirty="0"/>
              <a:t> </a:t>
            </a:r>
          </a:p>
          <a:p>
            <a:pPr lvl="1"/>
            <a:r>
              <a:rPr lang="en-US" sz="5600" u="sng" dirty="0">
                <a:hlinkClick r:id="rId11"/>
              </a:rPr>
              <a:t>https://www.smashingmagazine.com/2008/11/12-principles-for-keeping-your-code-clean/</a:t>
            </a:r>
            <a:r>
              <a:rPr lang="en-US" sz="5600" dirty="0"/>
              <a:t> </a:t>
            </a:r>
          </a:p>
          <a:p>
            <a:pPr lvl="1">
              <a:buNone/>
            </a:pPr>
            <a:r>
              <a:rPr lang="en-US" sz="5600" dirty="0"/>
              <a:t> </a:t>
            </a:r>
          </a:p>
          <a:p>
            <a:pPr>
              <a:buNone/>
            </a:pPr>
            <a:r>
              <a:rPr lang="en-US" dirty="0"/>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Naming conventions (examples)</a:t>
            </a:r>
          </a:p>
        </p:txBody>
      </p:sp>
      <p:sp>
        <p:nvSpPr>
          <p:cNvPr id="3" name="Content Placeholder 2"/>
          <p:cNvSpPr>
            <a:spLocks noGrp="1"/>
          </p:cNvSpPr>
          <p:nvPr>
            <p:ph idx="1"/>
          </p:nvPr>
        </p:nvSpPr>
        <p:spPr/>
        <p:txBody>
          <a:bodyPr>
            <a:normAutofit/>
          </a:bodyPr>
          <a:lstStyle/>
          <a:p>
            <a:r>
              <a:rPr lang="en-US" sz="2600" u="sng" dirty="0"/>
              <a:t>C++ (Google)</a:t>
            </a:r>
            <a:endParaRPr lang="en-US" sz="2600" u="sng" dirty="0">
              <a:hlinkClick r:id="rId2"/>
            </a:endParaRPr>
          </a:p>
          <a:p>
            <a:pPr lvl="1"/>
            <a:r>
              <a:rPr lang="en-US" sz="2200" u="sng" dirty="0">
                <a:hlinkClick r:id="rId2"/>
              </a:rPr>
              <a:t>https://google.github.io/styleguide/cppguide.html#Naming</a:t>
            </a:r>
            <a:r>
              <a:rPr lang="en-US" sz="2200" dirty="0"/>
              <a:t> </a:t>
            </a:r>
          </a:p>
          <a:p>
            <a:pPr lvl="1"/>
            <a:endParaRPr lang="en-US" sz="2200" dirty="0"/>
          </a:p>
          <a:p>
            <a:r>
              <a:rPr lang="en-US" sz="2600" dirty="0"/>
              <a:t>Java (Google)</a:t>
            </a:r>
          </a:p>
          <a:p>
            <a:pPr lvl="1"/>
            <a:r>
              <a:rPr lang="en-US" sz="2200" u="sng" dirty="0">
                <a:hlinkClick r:id="rId3"/>
              </a:rPr>
              <a:t>https://google.github.io/styleguide/javaguide.html#s5-naming</a:t>
            </a:r>
            <a:r>
              <a:rPr lang="en-US" sz="2200" dirty="0"/>
              <a:t> </a:t>
            </a:r>
          </a:p>
          <a:p>
            <a:pPr lvl="1"/>
            <a:endParaRPr lang="en-US" sz="2200" dirty="0"/>
          </a:p>
          <a:p>
            <a:r>
              <a:rPr lang="en-US" sz="2600" dirty="0"/>
              <a:t>Python (Google)</a:t>
            </a:r>
          </a:p>
          <a:p>
            <a:pPr lvl="1"/>
            <a:r>
              <a:rPr lang="en-US" sz="2200" u="sng" dirty="0">
                <a:hlinkClick r:id="rId4"/>
              </a:rPr>
              <a:t>https://google.github.io/styleguide/pyguide.html#Naming</a:t>
            </a:r>
            <a:r>
              <a:rPr lang="en-US" sz="2200"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3D776-F923-4A79-9070-AC20D0BC82B3}"/>
              </a:ext>
            </a:extLst>
          </p:cNvPr>
          <p:cNvSpPr>
            <a:spLocks noGrp="1"/>
          </p:cNvSpPr>
          <p:nvPr>
            <p:ph type="title"/>
          </p:nvPr>
        </p:nvSpPr>
        <p:spPr/>
        <p:txBody>
          <a:bodyPr>
            <a:noAutofit/>
          </a:bodyPr>
          <a:lstStyle/>
          <a:p>
            <a:r>
              <a:rPr lang="en-US" sz="2800" b="1" dirty="0"/>
              <a:t>Code Style </a:t>
            </a:r>
            <a:r>
              <a:rPr lang="en-US" sz="2800" dirty="0"/>
              <a:t>(Indentation, White Space, Capitalization, Style and Spelling, Use &amp; Style of Comments)</a:t>
            </a:r>
          </a:p>
        </p:txBody>
      </p:sp>
      <p:pic>
        <p:nvPicPr>
          <p:cNvPr id="4" name="Content Placeholder 3">
            <a:extLst>
              <a:ext uri="{FF2B5EF4-FFF2-40B4-BE49-F238E27FC236}">
                <a16:creationId xmlns:a16="http://schemas.microsoft.com/office/drawing/2014/main" id="{61B7DCFC-51AC-4988-8814-67D89DF98CFD}"/>
              </a:ext>
            </a:extLst>
          </p:cNvPr>
          <p:cNvPicPr>
            <a:picLocks noGrp="1" noChangeAspect="1"/>
          </p:cNvPicPr>
          <p:nvPr>
            <p:ph idx="1"/>
          </p:nvPr>
        </p:nvPicPr>
        <p:blipFill>
          <a:blip r:embed="rId3"/>
          <a:stretch>
            <a:fillRect/>
          </a:stretch>
        </p:blipFill>
        <p:spPr>
          <a:xfrm>
            <a:off x="838200" y="1690688"/>
            <a:ext cx="3277126" cy="4351338"/>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8B213BD9-565E-4E56-9763-5DBC755F266C}"/>
              </a:ext>
            </a:extLst>
          </p:cNvPr>
          <p:cNvPicPr>
            <a:picLocks noChangeAspect="1"/>
          </p:cNvPicPr>
          <p:nvPr/>
        </p:nvPicPr>
        <p:blipFill>
          <a:blip r:embed="rId4"/>
          <a:stretch>
            <a:fillRect/>
          </a:stretch>
        </p:blipFill>
        <p:spPr>
          <a:xfrm>
            <a:off x="838200" y="6254780"/>
            <a:ext cx="3914286" cy="476190"/>
          </a:xfrm>
          <a:prstGeom prst="rect">
            <a:avLst/>
          </a:prstGeom>
          <a:ln>
            <a:noFill/>
          </a:ln>
          <a:effectLst>
            <a:outerShdw blurRad="292100" dist="139700" dir="2700000" algn="tl" rotWithShape="0">
              <a:srgbClr val="333333">
                <a:alpha val="65000"/>
              </a:srgbClr>
            </a:outerShdw>
          </a:effectLst>
        </p:spPr>
      </p:pic>
      <p:pic>
        <p:nvPicPr>
          <p:cNvPr id="7" name="Picture 6" descr="A screenshot of a cell phone&#10;&#10;Description automatically generated">
            <a:extLst>
              <a:ext uri="{FF2B5EF4-FFF2-40B4-BE49-F238E27FC236}">
                <a16:creationId xmlns:a16="http://schemas.microsoft.com/office/drawing/2014/main" id="{5F5CF62F-78EC-4FCA-B375-201C6CAD4B66}"/>
              </a:ext>
            </a:extLst>
          </p:cNvPr>
          <p:cNvPicPr>
            <a:picLocks noChangeAspect="1"/>
          </p:cNvPicPr>
          <p:nvPr/>
        </p:nvPicPr>
        <p:blipFill rotWithShape="1">
          <a:blip r:embed="rId5">
            <a:extLst>
              <a:ext uri="{28A0092B-C50C-407E-A947-70E740481C1C}">
                <a14:useLocalDpi xmlns:a14="http://schemas.microsoft.com/office/drawing/2010/main" val="0"/>
              </a:ext>
            </a:extLst>
          </a:blip>
          <a:srcRect l="12407" r="12223" b="6509"/>
          <a:stretch/>
        </p:blipFill>
        <p:spPr>
          <a:xfrm>
            <a:off x="4918778" y="1690688"/>
            <a:ext cx="6781800" cy="38775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4530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Coding style for comments and documentation (examples)</a:t>
            </a:r>
          </a:p>
        </p:txBody>
      </p:sp>
      <p:sp>
        <p:nvSpPr>
          <p:cNvPr id="3" name="Content Placeholder 2"/>
          <p:cNvSpPr>
            <a:spLocks noGrp="1"/>
          </p:cNvSpPr>
          <p:nvPr>
            <p:ph idx="1"/>
          </p:nvPr>
        </p:nvSpPr>
        <p:spPr>
          <a:xfrm>
            <a:off x="947451" y="1600201"/>
            <a:ext cx="9263349" cy="5257799"/>
          </a:xfrm>
        </p:spPr>
        <p:txBody>
          <a:bodyPr>
            <a:normAutofit fontScale="25000" lnSpcReduction="20000"/>
          </a:bodyPr>
          <a:lstStyle/>
          <a:p>
            <a:r>
              <a:rPr lang="en-US" sz="9600" dirty="0">
                <a:latin typeface="Times New Roman" pitchFamily="18" charset="0"/>
                <a:cs typeface="Times New Roman" pitchFamily="18" charset="0"/>
              </a:rPr>
              <a:t>Comments can be for</a:t>
            </a:r>
          </a:p>
          <a:p>
            <a:pPr lvl="1"/>
            <a:r>
              <a:rPr lang="en-US" sz="9200" dirty="0">
                <a:latin typeface="Times New Roman" pitchFamily="18" charset="0"/>
                <a:cs typeface="Times New Roman" pitchFamily="18" charset="0"/>
              </a:rPr>
              <a:t>Headers (of classes, modules, functions) – basic information like purpose/function, methods, attributes, author, date</a:t>
            </a:r>
          </a:p>
          <a:p>
            <a:pPr lvl="1"/>
            <a:r>
              <a:rPr lang="en-US" sz="9200" dirty="0">
                <a:latin typeface="Times New Roman" pitchFamily="18" charset="0"/>
                <a:cs typeface="Times New Roman" pitchFamily="18" charset="0"/>
              </a:rPr>
              <a:t>In code</a:t>
            </a:r>
          </a:p>
          <a:p>
            <a:pPr lvl="1">
              <a:buNone/>
            </a:pPr>
            <a:endParaRPr lang="en-US" sz="9200" dirty="0">
              <a:latin typeface="Times New Roman" pitchFamily="18" charset="0"/>
              <a:cs typeface="Times New Roman" pitchFamily="18" charset="0"/>
            </a:endParaRPr>
          </a:p>
          <a:p>
            <a:r>
              <a:rPr lang="en-US" sz="8000" dirty="0">
                <a:latin typeface="Times New Roman" pitchFamily="18" charset="0"/>
                <a:cs typeface="Times New Roman" pitchFamily="18" charset="0"/>
              </a:rPr>
              <a:t>Headers</a:t>
            </a:r>
          </a:p>
          <a:p>
            <a:pPr lvl="1"/>
            <a:r>
              <a:rPr lang="en-US" sz="8000" u="sng" dirty="0">
                <a:latin typeface="Times New Roman" pitchFamily="18" charset="0"/>
                <a:cs typeface="Times New Roman" pitchFamily="18" charset="0"/>
                <a:hlinkClick r:id="rId2"/>
              </a:rPr>
              <a:t>https://pear.php.net/manual/en/standards.header.php</a:t>
            </a:r>
            <a:endParaRPr lang="en-US" sz="8000" dirty="0">
              <a:latin typeface="Times New Roman" pitchFamily="18" charset="0"/>
              <a:cs typeface="Times New Roman" pitchFamily="18" charset="0"/>
            </a:endParaRPr>
          </a:p>
          <a:p>
            <a:pPr lvl="1"/>
            <a:r>
              <a:rPr lang="en-US" sz="8000" u="sng" dirty="0">
                <a:latin typeface="Times New Roman" pitchFamily="18" charset="0"/>
                <a:cs typeface="Times New Roman" pitchFamily="18" charset="0"/>
                <a:hlinkClick r:id="rId3"/>
              </a:rPr>
              <a:t>https://en.wikibooks.org/wiki/PHP_Programming/Coding_Standards#Header_Comment_Blocks</a:t>
            </a:r>
            <a:r>
              <a:rPr lang="en-US" sz="8000" dirty="0">
                <a:latin typeface="Times New Roman" pitchFamily="18" charset="0"/>
                <a:cs typeface="Times New Roman" pitchFamily="18" charset="0"/>
              </a:rPr>
              <a:t> </a:t>
            </a:r>
          </a:p>
          <a:p>
            <a:pPr>
              <a:buNone/>
            </a:pPr>
            <a:r>
              <a:rPr lang="en-US" sz="8000" dirty="0">
                <a:latin typeface="Times New Roman" pitchFamily="18" charset="0"/>
                <a:cs typeface="Times New Roman" pitchFamily="18" charset="0"/>
              </a:rPr>
              <a:t> </a:t>
            </a:r>
          </a:p>
          <a:p>
            <a:r>
              <a:rPr lang="en-US" sz="8000" dirty="0">
                <a:latin typeface="Times New Roman" pitchFamily="18" charset="0"/>
                <a:cs typeface="Times New Roman" pitchFamily="18" charset="0"/>
              </a:rPr>
              <a:t>  General (Java, Python, C++)</a:t>
            </a:r>
          </a:p>
          <a:p>
            <a:pPr lvl="1"/>
            <a:r>
              <a:rPr lang="en-US" sz="8000" u="sng" dirty="0">
                <a:latin typeface="Times New Roman" pitchFamily="18" charset="0"/>
                <a:cs typeface="Times New Roman" pitchFamily="18" charset="0"/>
                <a:hlinkClick r:id="rId4"/>
              </a:rPr>
              <a:t>http://www.oracle.com/technetwork/java/javase/documentation/codeconventions-141999.html</a:t>
            </a:r>
            <a:r>
              <a:rPr lang="en-US" sz="8000" dirty="0">
                <a:latin typeface="Times New Roman" pitchFamily="18" charset="0"/>
                <a:cs typeface="Times New Roman" pitchFamily="18" charset="0"/>
              </a:rPr>
              <a:t> </a:t>
            </a:r>
          </a:p>
          <a:p>
            <a:pPr lvl="1"/>
            <a:r>
              <a:rPr lang="en-US" sz="8000" u="sng" dirty="0">
                <a:latin typeface="Times New Roman" pitchFamily="18" charset="0"/>
                <a:cs typeface="Times New Roman" pitchFamily="18" charset="0"/>
                <a:hlinkClick r:id="rId5"/>
              </a:rPr>
              <a:t>https://google.github.io/styleguide/pyguide.html#Comments</a:t>
            </a:r>
            <a:r>
              <a:rPr lang="en-US" sz="8000" dirty="0">
                <a:latin typeface="Times New Roman" pitchFamily="18" charset="0"/>
                <a:cs typeface="Times New Roman" pitchFamily="18" charset="0"/>
              </a:rPr>
              <a:t> </a:t>
            </a:r>
          </a:p>
          <a:p>
            <a:pPr lvl="1"/>
            <a:r>
              <a:rPr lang="en-US" sz="8000" u="sng" dirty="0">
                <a:latin typeface="Times New Roman" pitchFamily="18" charset="0"/>
                <a:cs typeface="Times New Roman" pitchFamily="18" charset="0"/>
                <a:hlinkClick r:id="rId6"/>
              </a:rPr>
              <a:t>https://legacy.python.org/dev/peps/pep-0008/#comments</a:t>
            </a:r>
            <a:endParaRPr lang="en-US" sz="8000" dirty="0">
              <a:latin typeface="Times New Roman" pitchFamily="18" charset="0"/>
              <a:cs typeface="Times New Roman" pitchFamily="18" charset="0"/>
            </a:endParaRPr>
          </a:p>
          <a:p>
            <a:pPr lvl="1"/>
            <a:r>
              <a:rPr lang="en-US" sz="8000" u="sng" dirty="0">
                <a:latin typeface="Times New Roman" pitchFamily="18" charset="0"/>
                <a:cs typeface="Times New Roman" pitchFamily="18" charset="0"/>
                <a:hlinkClick r:id="rId7"/>
              </a:rPr>
              <a:t>https://google.github.io/styleguide/cppguide.html#Comments</a:t>
            </a:r>
            <a:r>
              <a:rPr lang="en-US" sz="8000" dirty="0">
                <a:latin typeface="Times New Roman" pitchFamily="18" charset="0"/>
                <a:cs typeface="Times New Roman" pitchFamily="18" charset="0"/>
              </a:rPr>
              <a:t> </a:t>
            </a:r>
          </a:p>
          <a:p>
            <a:pPr lvl="1"/>
            <a:endParaRPr lang="en-US" sz="4800" dirty="0"/>
          </a:p>
          <a:p>
            <a:pPr lvl="1">
              <a:buNone/>
            </a:pPr>
            <a:endParaRPr lang="en-US" sz="3600" dirty="0"/>
          </a:p>
          <a:p>
            <a:pPr lvl="1"/>
            <a:endParaRPr lang="en-US" dirty="0"/>
          </a:p>
          <a:p>
            <a:pPr>
              <a:buNone/>
            </a:pPr>
            <a:r>
              <a:rPr lang="en-US"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Tools for automatic documentation generation (examples)</a:t>
            </a:r>
          </a:p>
        </p:txBody>
      </p:sp>
      <p:sp>
        <p:nvSpPr>
          <p:cNvPr id="3" name="Content Placeholder 2"/>
          <p:cNvSpPr>
            <a:spLocks noGrp="1"/>
          </p:cNvSpPr>
          <p:nvPr>
            <p:ph idx="1"/>
          </p:nvPr>
        </p:nvSpPr>
        <p:spPr/>
        <p:txBody>
          <a:bodyPr>
            <a:normAutofit fontScale="92500" lnSpcReduction="20000"/>
          </a:bodyPr>
          <a:lstStyle/>
          <a:p>
            <a:r>
              <a:rPr lang="en-US" sz="3600" dirty="0">
                <a:latin typeface="Times New Roman" pitchFamily="18" charset="0"/>
                <a:cs typeface="Times New Roman" pitchFamily="18" charset="0"/>
              </a:rPr>
              <a:t> Idea:</a:t>
            </a:r>
          </a:p>
          <a:p>
            <a:pPr lvl="1"/>
            <a:r>
              <a:rPr lang="en-US" dirty="0">
                <a:latin typeface="Times New Roman" pitchFamily="18" charset="0"/>
                <a:cs typeface="Times New Roman" pitchFamily="18" charset="0"/>
              </a:rPr>
              <a:t>Document code in a certain way</a:t>
            </a:r>
          </a:p>
          <a:p>
            <a:pPr lvl="1"/>
            <a:r>
              <a:rPr lang="en-US" dirty="0">
                <a:latin typeface="Times New Roman" pitchFamily="18" charset="0"/>
                <a:cs typeface="Times New Roman" pitchFamily="18" charset="0"/>
              </a:rPr>
              <a:t>Run tool to automatically generate documentation</a:t>
            </a:r>
          </a:p>
          <a:p>
            <a:pPr lvl="1"/>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General overview</a:t>
            </a:r>
          </a:p>
          <a:p>
            <a:pPr lvl="1"/>
            <a:r>
              <a:rPr lang="en-US" u="sng" dirty="0">
                <a:latin typeface="Times New Roman" pitchFamily="18" charset="0"/>
                <a:cs typeface="Times New Roman" pitchFamily="18" charset="0"/>
                <a:hlinkClick r:id="rId2"/>
              </a:rPr>
              <a:t>https://en.wikipedia.org/wiki/Comparison_of_documentation_generators</a:t>
            </a: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p>
          <a:p>
            <a:r>
              <a:rPr lang="en-US" b="1" dirty="0" err="1">
                <a:latin typeface="Times New Roman" pitchFamily="18" charset="0"/>
                <a:cs typeface="Times New Roman" pitchFamily="18" charset="0"/>
              </a:rPr>
              <a:t>Doxygen</a:t>
            </a:r>
            <a:r>
              <a:rPr lang="en-US" dirty="0">
                <a:latin typeface="Times New Roman" pitchFamily="18" charset="0"/>
                <a:cs typeface="Times New Roman" pitchFamily="18" charset="0"/>
              </a:rPr>
              <a:t> – automatic doc. generation from source code</a:t>
            </a:r>
          </a:p>
          <a:p>
            <a:pPr lvl="1"/>
            <a:r>
              <a:rPr lang="en-US" dirty="0"/>
              <a:t>About  </a:t>
            </a:r>
            <a:r>
              <a:rPr lang="en-US" dirty="0">
                <a:hlinkClick r:id="rId3"/>
              </a:rPr>
              <a:t>http://www.doxygen.nl/index.html</a:t>
            </a:r>
            <a:r>
              <a:rPr lang="en-US" dirty="0"/>
              <a:t> </a:t>
            </a:r>
          </a:p>
          <a:p>
            <a:pPr lvl="1"/>
            <a:r>
              <a:rPr lang="en-US" dirty="0"/>
              <a:t>How to document your code so </a:t>
            </a:r>
            <a:r>
              <a:rPr lang="en-US" dirty="0" err="1"/>
              <a:t>doxygen</a:t>
            </a:r>
            <a:r>
              <a:rPr lang="en-US" dirty="0"/>
              <a:t> can automatically create the documentation  </a:t>
            </a:r>
            <a:r>
              <a:rPr lang="en-US" dirty="0">
                <a:hlinkClick r:id="rId4"/>
              </a:rPr>
              <a:t>http://www.doxygen.nl/manual/docblocks.html</a:t>
            </a:r>
            <a:r>
              <a:rPr lang="en-US" dirty="0"/>
              <a:t> </a:t>
            </a:r>
          </a:p>
          <a:p>
            <a:pPr lvl="1"/>
            <a:r>
              <a:rPr lang="en-US" dirty="0" err="1"/>
              <a:t>Doxygen</a:t>
            </a:r>
            <a:r>
              <a:rPr lang="en-US" dirty="0"/>
              <a:t> demo: </a:t>
            </a:r>
            <a:r>
              <a:rPr lang="en-US" dirty="0">
                <a:hlinkClick r:id="rId5"/>
              </a:rPr>
              <a:t>https://youtu.be/44Ja2X_fzv4</a:t>
            </a:r>
            <a:r>
              <a:rPr 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E516D-8113-4F27-A7C2-AE2BA250F7B4}"/>
              </a:ext>
            </a:extLst>
          </p:cNvPr>
          <p:cNvSpPr>
            <a:spLocks noGrp="1"/>
          </p:cNvSpPr>
          <p:nvPr>
            <p:ph type="title"/>
          </p:nvPr>
        </p:nvSpPr>
        <p:spPr>
          <a:xfrm>
            <a:off x="838200" y="365125"/>
            <a:ext cx="10191044" cy="1325563"/>
          </a:xfrm>
        </p:spPr>
        <p:txBody>
          <a:bodyPr>
            <a:normAutofit fontScale="90000"/>
          </a:bodyPr>
          <a:lstStyle/>
          <a:p>
            <a:r>
              <a:rPr lang="en-US" dirty="0" err="1"/>
              <a:t>Doxygen</a:t>
            </a:r>
            <a:r>
              <a:rPr lang="en-US" dirty="0"/>
              <a:t> - Documentation For Your Programs (Demo)</a:t>
            </a:r>
            <a:br>
              <a:rPr lang="en-US" dirty="0"/>
            </a:br>
            <a:endParaRPr lang="en-US" dirty="0"/>
          </a:p>
        </p:txBody>
      </p:sp>
      <p:pic>
        <p:nvPicPr>
          <p:cNvPr id="4" name="Content Placeholder 3">
            <a:extLst>
              <a:ext uri="{FF2B5EF4-FFF2-40B4-BE49-F238E27FC236}">
                <a16:creationId xmlns:a16="http://schemas.microsoft.com/office/drawing/2014/main" id="{603B29D4-F991-4DEB-B6B8-3F1EACD01FAB}"/>
              </a:ext>
            </a:extLst>
          </p:cNvPr>
          <p:cNvPicPr>
            <a:picLocks noGrp="1" noChangeAspect="1"/>
          </p:cNvPicPr>
          <p:nvPr>
            <p:ph idx="1"/>
          </p:nvPr>
        </p:nvPicPr>
        <p:blipFill>
          <a:blip r:embed="rId3"/>
          <a:stretch>
            <a:fillRect/>
          </a:stretch>
        </p:blipFill>
        <p:spPr>
          <a:xfrm>
            <a:off x="1938331" y="1596805"/>
            <a:ext cx="8695802" cy="4896070"/>
          </a:xfrm>
          <a:prstGeom prst="rect">
            <a:avLst/>
          </a:prstGeom>
        </p:spPr>
      </p:pic>
    </p:spTree>
    <p:extLst>
      <p:ext uri="{BB962C8B-B14F-4D97-AF65-F5344CB8AC3E}">
        <p14:creationId xmlns:p14="http://schemas.microsoft.com/office/powerpoint/2010/main" val="3914045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C2E352-5C52-4A90-B722-9D55256F956B}"/>
              </a:ext>
            </a:extLst>
          </p:cNvPr>
          <p:cNvPicPr>
            <a:picLocks noChangeAspect="1"/>
          </p:cNvPicPr>
          <p:nvPr/>
        </p:nvPicPr>
        <p:blipFill>
          <a:blip r:embed="rId2"/>
          <a:stretch>
            <a:fillRect/>
          </a:stretch>
        </p:blipFill>
        <p:spPr>
          <a:xfrm>
            <a:off x="0" y="0"/>
            <a:ext cx="9232407" cy="2480348"/>
          </a:xfrm>
          <a:prstGeom prst="rect">
            <a:avLst/>
          </a:prstGeom>
        </p:spPr>
      </p:pic>
      <p:pic>
        <p:nvPicPr>
          <p:cNvPr id="6" name="Picture 5">
            <a:extLst>
              <a:ext uri="{FF2B5EF4-FFF2-40B4-BE49-F238E27FC236}">
                <a16:creationId xmlns:a16="http://schemas.microsoft.com/office/drawing/2014/main" id="{45EAC22A-7A43-41DE-BAAD-6576BCA89D10}"/>
              </a:ext>
            </a:extLst>
          </p:cNvPr>
          <p:cNvPicPr>
            <a:picLocks noChangeAspect="1"/>
          </p:cNvPicPr>
          <p:nvPr/>
        </p:nvPicPr>
        <p:blipFill>
          <a:blip r:embed="rId3"/>
          <a:stretch>
            <a:fillRect/>
          </a:stretch>
        </p:blipFill>
        <p:spPr>
          <a:xfrm>
            <a:off x="2374454" y="4209036"/>
            <a:ext cx="8527474" cy="2394252"/>
          </a:xfrm>
          <a:prstGeom prst="rect">
            <a:avLst/>
          </a:prstGeom>
        </p:spPr>
      </p:pic>
      <p:pic>
        <p:nvPicPr>
          <p:cNvPr id="4" name="Content Placeholder 3">
            <a:extLst>
              <a:ext uri="{FF2B5EF4-FFF2-40B4-BE49-F238E27FC236}">
                <a16:creationId xmlns:a16="http://schemas.microsoft.com/office/drawing/2014/main" id="{9B5AFDA6-D6B2-4E8C-A1B5-FE7E2E9349D3}"/>
              </a:ext>
            </a:extLst>
          </p:cNvPr>
          <p:cNvPicPr>
            <a:picLocks noGrp="1" noChangeAspect="1"/>
          </p:cNvPicPr>
          <p:nvPr>
            <p:ph idx="4294967295"/>
          </p:nvPr>
        </p:nvPicPr>
        <p:blipFill rotWithShape="1">
          <a:blip r:embed="rId4"/>
          <a:srcRect b="51673"/>
          <a:stretch/>
        </p:blipFill>
        <p:spPr>
          <a:xfrm>
            <a:off x="2374454" y="1491504"/>
            <a:ext cx="8527474" cy="2717532"/>
          </a:xfrm>
          <a:prstGeom prst="rect">
            <a:avLst/>
          </a:prstGeom>
        </p:spPr>
      </p:pic>
    </p:spTree>
    <p:extLst>
      <p:ext uri="{BB962C8B-B14F-4D97-AF65-F5344CB8AC3E}">
        <p14:creationId xmlns:p14="http://schemas.microsoft.com/office/powerpoint/2010/main" val="958769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latin typeface="Times New Roman" pitchFamily="18" charset="0"/>
                <a:cs typeface="Times New Roman" pitchFamily="18" charset="0"/>
              </a:rPr>
              <a:t>Github</a:t>
            </a:r>
            <a:r>
              <a:rPr lang="en-US" dirty="0">
                <a:latin typeface="Times New Roman" pitchFamily="18" charset="0"/>
                <a:cs typeface="Times New Roman" pitchFamily="18" charset="0"/>
              </a:rPr>
              <a:t> documentation and comments</a:t>
            </a:r>
          </a:p>
        </p:txBody>
      </p:sp>
      <p:sp>
        <p:nvSpPr>
          <p:cNvPr id="3" name="Content Placeholder 2"/>
          <p:cNvSpPr>
            <a:spLocks noGrp="1"/>
          </p:cNvSpPr>
          <p:nvPr>
            <p:ph idx="1"/>
          </p:nvPr>
        </p:nvSpPr>
        <p:spPr/>
        <p:txBody>
          <a:bodyPr>
            <a:normAutofit/>
          </a:bodyPr>
          <a:lstStyle/>
          <a:p>
            <a:r>
              <a:rPr lang="en-US" dirty="0">
                <a:latin typeface="Times New Roman" pitchFamily="18" charset="0"/>
                <a:cs typeface="Times New Roman" pitchFamily="18" charset="0"/>
              </a:rPr>
              <a:t>Good comments are critical for being able to leverage </a:t>
            </a:r>
            <a:r>
              <a:rPr lang="en-US" dirty="0" err="1">
                <a:latin typeface="Times New Roman" pitchFamily="18" charset="0"/>
                <a:cs typeface="Times New Roman" pitchFamily="18" charset="0"/>
              </a:rPr>
              <a:t>github</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Think about looking for update on specific type of issue – search comments to find it quickly</a:t>
            </a:r>
          </a:p>
          <a:p>
            <a:r>
              <a:rPr lang="en-US" dirty="0">
                <a:latin typeface="Times New Roman" pitchFamily="18" charset="0"/>
                <a:cs typeface="Times New Roman" pitchFamily="18" charset="0"/>
              </a:rPr>
              <a:t>Research shows (including ours) that teams who do better </a:t>
            </a:r>
            <a:r>
              <a:rPr lang="en-US" dirty="0" err="1">
                <a:latin typeface="Times New Roman" pitchFamily="18" charset="0"/>
                <a:cs typeface="Times New Roman" pitchFamily="18" charset="0"/>
              </a:rPr>
              <a:t>github</a:t>
            </a:r>
            <a:r>
              <a:rPr lang="en-US" dirty="0">
                <a:latin typeface="Times New Roman" pitchFamily="18" charset="0"/>
                <a:cs typeface="Times New Roman" pitchFamily="18" charset="0"/>
              </a:rPr>
              <a:t> comments do better code and SW</a:t>
            </a:r>
          </a:p>
          <a:p>
            <a:pPr lvl="1"/>
            <a:r>
              <a:rPr lang="en-US" dirty="0">
                <a:latin typeface="Times New Roman" pitchFamily="18" charset="0"/>
                <a:cs typeface="Times New Roman" pitchFamily="18" charset="0"/>
                <a:hlinkClick r:id="rId2"/>
              </a:rPr>
              <a:t>https://github.com/erlang/otp/wiki/writing-good-commit-messages</a:t>
            </a:r>
            <a:r>
              <a:rPr lang="en-US" dirty="0">
                <a:latin typeface="Times New Roman" pitchFamily="18" charset="0"/>
                <a:cs typeface="Times New Roman" pitchFamily="18" charset="0"/>
              </a:rPr>
              <a:t> </a:t>
            </a:r>
          </a:p>
          <a:p>
            <a:endParaRPr lang="en-US" dirty="0"/>
          </a:p>
        </p:txBody>
      </p:sp>
      <p:sp>
        <p:nvSpPr>
          <p:cNvPr id="4" name="TextBox 3"/>
          <p:cNvSpPr txBox="1"/>
          <p:nvPr/>
        </p:nvSpPr>
        <p:spPr>
          <a:xfrm>
            <a:off x="10726031" y="230188"/>
            <a:ext cx="1255537" cy="400110"/>
          </a:xfrm>
          <a:prstGeom prst="rect">
            <a:avLst/>
          </a:prstGeom>
          <a:noFill/>
        </p:spPr>
        <p:txBody>
          <a:bodyPr wrap="none" rtlCol="0">
            <a:spAutoFit/>
          </a:bodyPr>
          <a:lstStyle/>
          <a:p>
            <a:r>
              <a:rPr lang="en-US" sz="2000" dirty="0">
                <a:solidFill>
                  <a:srgbClr val="FF0000"/>
                </a:solidFill>
              </a:rPr>
              <a:t>Important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p:txBody>
          <a:bodyPr/>
          <a:lstStyle/>
          <a:p>
            <a:r>
              <a:rPr lang="en-US" dirty="0">
                <a:latin typeface="Times New Roman" pitchFamily="18" charset="0"/>
                <a:cs typeface="Times New Roman" pitchFamily="18" charset="0"/>
              </a:rPr>
              <a:t>Best Practices Coding Style for Security</a:t>
            </a:r>
          </a:p>
        </p:txBody>
      </p:sp>
      <p:sp>
        <p:nvSpPr>
          <p:cNvPr id="25603" name="Rectangle 3"/>
          <p:cNvSpPr>
            <a:spLocks noGrp="1"/>
          </p:cNvSpPr>
          <p:nvPr>
            <p:ph type="body" idx="1"/>
          </p:nvPr>
        </p:nvSpPr>
        <p:spPr/>
        <p:txBody>
          <a:bodyPr/>
          <a:lstStyle/>
          <a:p>
            <a:pPr>
              <a:lnSpc>
                <a:spcPct val="90000"/>
              </a:lnSpc>
            </a:pPr>
            <a:r>
              <a:rPr lang="en-US" sz="2400" dirty="0">
                <a:latin typeface="Times New Roman" pitchFamily="18" charset="0"/>
                <a:cs typeface="Times New Roman" pitchFamily="18" charset="0"/>
              </a:rPr>
              <a:t>Ensure and enforce proper coding practices – use code and architecture reviews</a:t>
            </a:r>
          </a:p>
          <a:p>
            <a:pPr>
              <a:lnSpc>
                <a:spcPct val="90000"/>
              </a:lnSpc>
            </a:pPr>
            <a:r>
              <a:rPr lang="en-US" sz="2400" b="1" dirty="0">
                <a:latin typeface="Times New Roman" pitchFamily="18" charset="0"/>
                <a:cs typeface="Times New Roman" pitchFamily="18" charset="0"/>
              </a:rPr>
              <a:t>Check inputs  </a:t>
            </a:r>
            <a:r>
              <a:rPr lang="en-US" sz="2400" dirty="0">
                <a:latin typeface="Times New Roman" pitchFamily="18" charset="0"/>
                <a:cs typeface="Times New Roman" pitchFamily="18" charset="0"/>
              </a:rPr>
              <a:t>and allow only valid ones</a:t>
            </a:r>
          </a:p>
          <a:p>
            <a:pPr>
              <a:lnSpc>
                <a:spcPct val="90000"/>
              </a:lnSpc>
            </a:pPr>
            <a:r>
              <a:rPr lang="en-US" sz="2400" dirty="0">
                <a:latin typeface="Times New Roman" pitchFamily="18" charset="0"/>
                <a:cs typeface="Times New Roman" pitchFamily="18" charset="0"/>
              </a:rPr>
              <a:t>Ensure proper transmission and management of </a:t>
            </a:r>
            <a:r>
              <a:rPr lang="en-US" sz="2400" b="1" dirty="0">
                <a:latin typeface="Times New Roman" pitchFamily="18" charset="0"/>
                <a:cs typeface="Times New Roman" pitchFamily="18" charset="0"/>
              </a:rPr>
              <a:t>passwords</a:t>
            </a:r>
          </a:p>
          <a:p>
            <a:pPr>
              <a:lnSpc>
                <a:spcPct val="90000"/>
              </a:lnSpc>
            </a:pPr>
            <a:r>
              <a:rPr lang="en-US" sz="2400" dirty="0">
                <a:latin typeface="Times New Roman" pitchFamily="18" charset="0"/>
                <a:cs typeface="Times New Roman" pitchFamily="18" charset="0"/>
              </a:rPr>
              <a:t>Use </a:t>
            </a:r>
            <a:r>
              <a:rPr lang="en-US" sz="2400" b="1" dirty="0">
                <a:latin typeface="Times New Roman" pitchFamily="18" charset="0"/>
                <a:cs typeface="Times New Roman" pitchFamily="18" charset="0"/>
              </a:rPr>
              <a:t>secure internet protocols</a:t>
            </a:r>
          </a:p>
          <a:p>
            <a:pPr>
              <a:lnSpc>
                <a:spcPct val="90000"/>
              </a:lnSpc>
            </a:pPr>
            <a:r>
              <a:rPr lang="en-US" sz="2400" dirty="0">
                <a:latin typeface="Times New Roman" pitchFamily="18" charset="0"/>
                <a:cs typeface="Times New Roman" pitchFamily="18" charset="0"/>
              </a:rPr>
              <a:t>Check </a:t>
            </a:r>
            <a:r>
              <a:rPr lang="en-US" sz="2400" b="1" dirty="0">
                <a:latin typeface="Times New Roman" pitchFamily="18" charset="0"/>
                <a:cs typeface="Times New Roman" pitchFamily="18" charset="0"/>
              </a:rPr>
              <a:t>buffer size </a:t>
            </a:r>
            <a:r>
              <a:rPr lang="en-US" sz="2400" dirty="0">
                <a:latin typeface="Times New Roman" pitchFamily="18" charset="0"/>
                <a:cs typeface="Times New Roman" pitchFamily="18" charset="0"/>
              </a:rPr>
              <a:t>– make sure no attack can be done by sending longer data streams </a:t>
            </a:r>
          </a:p>
          <a:p>
            <a:pPr>
              <a:lnSpc>
                <a:spcPct val="90000"/>
              </a:lnSpc>
            </a:pPr>
            <a:r>
              <a:rPr lang="en-US" sz="2400" dirty="0">
                <a:latin typeface="Times New Roman" pitchFamily="18" charset="0"/>
                <a:cs typeface="Times New Roman" pitchFamily="18" charset="0"/>
              </a:rPr>
              <a:t>Prevent injection of SQL code into the forms</a:t>
            </a:r>
          </a:p>
          <a:p>
            <a:pPr>
              <a:lnSpc>
                <a:spcPct val="90000"/>
              </a:lnSpc>
            </a:pPr>
            <a:r>
              <a:rPr lang="en-US" sz="2400" dirty="0">
                <a:latin typeface="Times New Roman" pitchFamily="18" charset="0"/>
                <a:cs typeface="Times New Roman" pitchFamily="18" charset="0"/>
              </a:rPr>
              <a:t>Check uploaded content for executables</a:t>
            </a:r>
          </a:p>
          <a:p>
            <a:pPr>
              <a:lnSpc>
                <a:spcPct val="90000"/>
              </a:lnSpc>
            </a:pPr>
            <a:r>
              <a:rPr lang="en-US" sz="2400" dirty="0">
                <a:latin typeface="Times New Roman" pitchFamily="18" charset="0"/>
                <a:cs typeface="Times New Roman" pitchFamily="18" charset="0"/>
              </a:rPr>
              <a:t>Virus check all uploaded content</a:t>
            </a:r>
          </a:p>
        </p:txBody>
      </p:sp>
      <p:sp>
        <p:nvSpPr>
          <p:cNvPr id="4" name="Date Placeholder 3"/>
          <p:cNvSpPr>
            <a:spLocks noGrp="1"/>
          </p:cNvSpPr>
          <p:nvPr>
            <p:ph type="dt" sz="quarter" idx="10"/>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F9F2FB1-51A7-4D3D-9793-FE7C4E57A55F}" type="slidenum">
              <a:rPr lang="en-US" smtClean="0"/>
              <a:pPr>
                <a:defRPr/>
              </a:pPr>
              <a:t>20</a:t>
            </a:fld>
            <a:endParaRPr lang="en-US"/>
          </a:p>
        </p:txBody>
      </p:sp>
      <p:sp>
        <p:nvSpPr>
          <p:cNvPr id="6" name="Footer Placeholder 5"/>
          <p:cNvSpPr>
            <a:spLocks noGrp="1"/>
          </p:cNvSpPr>
          <p:nvPr>
            <p:ph type="ftr" sz="quarter" idx="11"/>
          </p:nvPr>
        </p:nvSpPr>
        <p:spPr/>
        <p:txBody>
          <a:bodyPr/>
          <a:lstStyle/>
          <a:p>
            <a:pPr>
              <a:defRPr/>
            </a:pPr>
            <a:r>
              <a:rPr lang="en-US"/>
              <a:t>Acknowledged use of SE book by Sommerville (2006), 8e</a:t>
            </a:r>
          </a:p>
        </p:txBody>
      </p:sp>
      <p:sp>
        <p:nvSpPr>
          <p:cNvPr id="25607" name="TextBox 6"/>
          <p:cNvSpPr txBox="1">
            <a:spLocks noChangeArrowheads="1"/>
          </p:cNvSpPr>
          <p:nvPr/>
        </p:nvSpPr>
        <p:spPr bwMode="auto">
          <a:xfrm>
            <a:off x="10774362" y="230188"/>
            <a:ext cx="1158875" cy="369888"/>
          </a:xfrm>
          <a:prstGeom prst="rect">
            <a:avLst/>
          </a:prstGeom>
          <a:noFill/>
          <a:ln w="9525">
            <a:noFill/>
            <a:miter lim="800000"/>
            <a:headEnd/>
            <a:tailEnd/>
          </a:ln>
        </p:spPr>
        <p:txBody>
          <a:bodyPr wrap="none">
            <a:spAutoFit/>
          </a:bodyPr>
          <a:lstStyle/>
          <a:p>
            <a:r>
              <a:rPr lang="en-US" dirty="0">
                <a:solidFill>
                  <a:srgbClr val="FF0000"/>
                </a:solidFill>
              </a:rPr>
              <a:t>Important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a:bodyPr>
          <a:lstStyle/>
          <a:p>
            <a:r>
              <a:rPr lang="en-US" dirty="0">
                <a:latin typeface="Times New Roman" pitchFamily="18" charset="0"/>
                <a:cs typeface="Times New Roman" pitchFamily="18" charset="0"/>
              </a:rPr>
              <a:t>Forms and Inputs – one of the KEY security  issue on the WWW</a:t>
            </a:r>
          </a:p>
        </p:txBody>
      </p:sp>
      <p:sp>
        <p:nvSpPr>
          <p:cNvPr id="29699" name="Content Placeholder 2"/>
          <p:cNvSpPr>
            <a:spLocks noGrp="1"/>
          </p:cNvSpPr>
          <p:nvPr>
            <p:ph idx="1"/>
          </p:nvPr>
        </p:nvSpPr>
        <p:spPr/>
        <p:txBody>
          <a:bodyPr>
            <a:normAutofit/>
          </a:bodyPr>
          <a:lstStyle/>
          <a:p>
            <a:r>
              <a:rPr lang="en-US" dirty="0">
                <a:latin typeface="Times New Roman" pitchFamily="18" charset="0"/>
                <a:cs typeface="Times New Roman" pitchFamily="18" charset="0"/>
              </a:rPr>
              <a:t>Cross site scripting, SQL and other injections – most done or first attempted via forms input</a:t>
            </a:r>
          </a:p>
          <a:p>
            <a:r>
              <a:rPr lang="en-US" dirty="0">
                <a:latin typeface="Times New Roman" pitchFamily="18" charset="0"/>
                <a:cs typeface="Times New Roman" pitchFamily="18" charset="0"/>
              </a:rPr>
              <a:t>Hence, follow best SE practices for validating and checking all form inputs </a:t>
            </a:r>
            <a:r>
              <a:rPr lang="en-US" dirty="0">
                <a:latin typeface="Times New Roman" pitchFamily="18" charset="0"/>
                <a:cs typeface="Times New Roman" pitchFamily="18" charset="0"/>
                <a:sym typeface="Wingdings" pitchFamily="2" charset="2"/>
              </a:rPr>
              <a:t> plenty of tools and coder and APIs available e.g.</a:t>
            </a:r>
          </a:p>
          <a:p>
            <a:pPr lvl="1"/>
            <a:r>
              <a:rPr lang="en-US" dirty="0">
                <a:latin typeface="Times New Roman" pitchFamily="18" charset="0"/>
                <a:cs typeface="Times New Roman" pitchFamily="18" charset="0"/>
                <a:hlinkClick r:id="rId2"/>
              </a:rPr>
              <a:t>https://www.securecoding.cert.org/confluence/display/seccode/SEI+CERT+Coding+Standards</a:t>
            </a:r>
            <a:endParaRPr lang="en-US" dirty="0">
              <a:latin typeface="Times New Roman" pitchFamily="18" charset="0"/>
              <a:cs typeface="Times New Roman" pitchFamily="18" charset="0"/>
            </a:endParaRPr>
          </a:p>
          <a:p>
            <a:pPr lvl="2"/>
            <a:r>
              <a:rPr lang="en-US" dirty="0">
                <a:latin typeface="Times New Roman" pitchFamily="18" charset="0"/>
                <a:cs typeface="Times New Roman" pitchFamily="18" charset="0"/>
              </a:rPr>
              <a:t>go to java and check rule 00</a:t>
            </a:r>
          </a:p>
          <a:p>
            <a:pPr lvl="3"/>
            <a:r>
              <a:rPr lang="en-US" dirty="0">
                <a:latin typeface="Times New Roman" pitchFamily="18" charset="0"/>
                <a:cs typeface="Times New Roman" pitchFamily="18" charset="0"/>
                <a:hlinkClick r:id="rId3"/>
              </a:rPr>
              <a:t>https://wiki.sei.cmu.edu/confluence/pages/viewpage.action?pageId=88487865</a:t>
            </a:r>
            <a:r>
              <a:rPr lang="en-US" dirty="0">
                <a:latin typeface="Times New Roman" pitchFamily="18" charset="0"/>
                <a:cs typeface="Times New Roman" pitchFamily="18" charset="0"/>
              </a:rPr>
              <a:t> </a:t>
            </a:r>
          </a:p>
          <a:p>
            <a:pPr lvl="1"/>
            <a:r>
              <a:rPr lang="en-US" u="sng" dirty="0">
                <a:latin typeface="Times New Roman" pitchFamily="18" charset="0"/>
                <a:cs typeface="Times New Roman" pitchFamily="18" charset="0"/>
                <a:hlinkClick r:id="rId4"/>
              </a:rPr>
              <a:t>https://1000hz.github.io/bootstrap-validator/</a:t>
            </a:r>
            <a:endParaRPr lang="en-US" dirty="0">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Acknowledged use of SE book by Sommerville (2006), 8e</a:t>
            </a:r>
          </a:p>
        </p:txBody>
      </p:sp>
      <p:sp>
        <p:nvSpPr>
          <p:cNvPr id="6" name="Slide Number Placeholder 5"/>
          <p:cNvSpPr>
            <a:spLocks noGrp="1"/>
          </p:cNvSpPr>
          <p:nvPr>
            <p:ph type="sldNum" sz="quarter" idx="12"/>
          </p:nvPr>
        </p:nvSpPr>
        <p:spPr/>
        <p:txBody>
          <a:bodyPr/>
          <a:lstStyle/>
          <a:p>
            <a:pPr>
              <a:defRPr/>
            </a:pPr>
            <a:fld id="{8C295AA3-C19C-4783-9F01-AEA7C9F1D522}"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528DB-42C2-E95A-8C06-B703292BEA3F}"/>
              </a:ext>
            </a:extLst>
          </p:cNvPr>
          <p:cNvSpPr>
            <a:spLocks noGrp="1"/>
          </p:cNvSpPr>
          <p:nvPr>
            <p:ph type="title"/>
          </p:nvPr>
        </p:nvSpPr>
        <p:spPr/>
        <p:txBody>
          <a:bodyPr/>
          <a:lstStyle/>
          <a:p>
            <a:r>
              <a:rPr lang="en-US" dirty="0"/>
              <a:t>Coding in the AI era</a:t>
            </a:r>
            <a:br>
              <a:rPr lang="en-US" dirty="0"/>
            </a:br>
            <a:r>
              <a:rPr lang="en-US" sz="2800" dirty="0"/>
              <a:t>~Henry’s POV</a:t>
            </a:r>
          </a:p>
        </p:txBody>
      </p:sp>
      <p:sp>
        <p:nvSpPr>
          <p:cNvPr id="3" name="Content Placeholder 2">
            <a:extLst>
              <a:ext uri="{FF2B5EF4-FFF2-40B4-BE49-F238E27FC236}">
                <a16:creationId xmlns:a16="http://schemas.microsoft.com/office/drawing/2014/main" id="{C15AF6B5-2CE7-DF00-7E56-A7D6BCCFBB95}"/>
              </a:ext>
            </a:extLst>
          </p:cNvPr>
          <p:cNvSpPr>
            <a:spLocks noGrp="1"/>
          </p:cNvSpPr>
          <p:nvPr>
            <p:ph idx="1"/>
          </p:nvPr>
        </p:nvSpPr>
        <p:spPr>
          <a:xfrm>
            <a:off x="838201" y="1825625"/>
            <a:ext cx="5105400" cy="4351338"/>
          </a:xfrm>
        </p:spPr>
        <p:txBody>
          <a:bodyPr>
            <a:normAutofit fontScale="85000" lnSpcReduction="20000"/>
          </a:bodyPr>
          <a:lstStyle/>
          <a:p>
            <a:r>
              <a:rPr lang="en-US" b="1" dirty="0"/>
              <a:t>From Implementation to AI-Augmented Engineering &amp; Orchestration</a:t>
            </a:r>
          </a:p>
          <a:p>
            <a:pPr lvl="1"/>
            <a:r>
              <a:rPr lang="en-US" dirty="0"/>
              <a:t>Working with AI coding assistants</a:t>
            </a:r>
          </a:p>
          <a:p>
            <a:pPr lvl="1"/>
            <a:r>
              <a:rPr lang="en-US" dirty="0"/>
              <a:t>Architect AI-integrated systems</a:t>
            </a:r>
          </a:p>
          <a:p>
            <a:pPr lvl="1"/>
            <a:r>
              <a:rPr lang="en-US" dirty="0"/>
              <a:t>Evaluate AI outputs critically</a:t>
            </a:r>
          </a:p>
          <a:p>
            <a:pPr lvl="1"/>
            <a:r>
              <a:rPr lang="en-US" dirty="0"/>
              <a:t>Design for security in AI-driven environments</a:t>
            </a:r>
          </a:p>
          <a:p>
            <a:pPr lvl="1"/>
            <a:r>
              <a:rPr lang="en-US" dirty="0"/>
              <a:t>Orchestrate hybrid human-AI workflows</a:t>
            </a:r>
          </a:p>
          <a:p>
            <a:r>
              <a:rPr lang="en-US" b="1" dirty="0"/>
              <a:t>Shift: Engineer as Orchestrator</a:t>
            </a:r>
          </a:p>
          <a:p>
            <a:pPr lvl="1"/>
            <a:r>
              <a:rPr lang="en-US" dirty="0"/>
              <a:t>From coder -&gt; system thinker</a:t>
            </a:r>
          </a:p>
          <a:p>
            <a:pPr lvl="1"/>
            <a:r>
              <a:rPr lang="en-US" dirty="0"/>
              <a:t>Implementer -&gt; decision architect</a:t>
            </a:r>
          </a:p>
          <a:p>
            <a:pPr lvl="1"/>
            <a:r>
              <a:rPr lang="en-US" dirty="0"/>
              <a:t>Syntax mastery -&gt; problem framing mastery</a:t>
            </a:r>
          </a:p>
          <a:p>
            <a:pPr lvl="1"/>
            <a:r>
              <a:rPr lang="en-US" dirty="0"/>
              <a:t>Human-in-the-loop engineering</a:t>
            </a:r>
          </a:p>
        </p:txBody>
      </p:sp>
      <p:sp>
        <p:nvSpPr>
          <p:cNvPr id="4" name="Content Placeholder 2">
            <a:extLst>
              <a:ext uri="{FF2B5EF4-FFF2-40B4-BE49-F238E27FC236}">
                <a16:creationId xmlns:a16="http://schemas.microsoft.com/office/drawing/2014/main" id="{A0408C48-5D7A-51F3-750E-653EE7863EAA}"/>
              </a:ext>
            </a:extLst>
          </p:cNvPr>
          <p:cNvSpPr txBox="1">
            <a:spLocks/>
          </p:cNvSpPr>
          <p:nvPr/>
        </p:nvSpPr>
        <p:spPr>
          <a:xfrm>
            <a:off x="6248401" y="1825625"/>
            <a:ext cx="5105400"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Code Review</a:t>
            </a:r>
          </a:p>
          <a:p>
            <a:r>
              <a:rPr lang="en-US" b="1" dirty="0"/>
              <a:t>Secure Coding</a:t>
            </a:r>
          </a:p>
          <a:p>
            <a:r>
              <a:rPr lang="en-US" b="1" dirty="0"/>
              <a:t>System Design</a:t>
            </a:r>
          </a:p>
          <a:p>
            <a:r>
              <a:rPr lang="en-US" b="1" dirty="0"/>
              <a:t>Governance, Ethics &amp; Professional Responsibility</a:t>
            </a:r>
          </a:p>
          <a:p>
            <a:r>
              <a:rPr lang="en-US" b="1" dirty="0"/>
              <a:t>Engineering Productivity &amp; Cognitive Offloading</a:t>
            </a:r>
          </a:p>
          <a:p>
            <a:pPr lvl="1"/>
            <a:r>
              <a:rPr lang="en-US" dirty="0"/>
              <a:t>When AI enhances thinking</a:t>
            </a:r>
          </a:p>
          <a:p>
            <a:pPr lvl="1"/>
            <a:r>
              <a:rPr lang="en-US" dirty="0"/>
              <a:t>When AI weakens thinking</a:t>
            </a:r>
          </a:p>
          <a:p>
            <a:pPr lvl="1"/>
            <a:r>
              <a:rPr lang="en-US" dirty="0"/>
              <a:t>Maintaining core algorithmic skills</a:t>
            </a:r>
          </a:p>
          <a:p>
            <a:pPr lvl="1"/>
            <a:r>
              <a:rPr lang="en-US" dirty="0"/>
              <a:t>Avoiding “AI dependency collapse”</a:t>
            </a:r>
          </a:p>
          <a:p>
            <a:pPr lvl="1"/>
            <a:endParaRPr lang="en-US" dirty="0"/>
          </a:p>
        </p:txBody>
      </p:sp>
    </p:spTree>
    <p:extLst>
      <p:ext uri="{BB962C8B-B14F-4D97-AF65-F5344CB8AC3E}">
        <p14:creationId xmlns:p14="http://schemas.microsoft.com/office/powerpoint/2010/main" val="3434580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FA09-14CE-4515-B2E6-C063F072CBA3}"/>
              </a:ext>
            </a:extLst>
          </p:cNvPr>
          <p:cNvSpPr>
            <a:spLocks noGrp="1"/>
          </p:cNvSpPr>
          <p:nvPr>
            <p:ph type="title"/>
          </p:nvPr>
        </p:nvSpPr>
        <p:spPr/>
        <p:txBody>
          <a:bodyPr/>
          <a:lstStyle/>
          <a:p>
            <a:r>
              <a:rPr lang="en-US" dirty="0"/>
              <a:t>Team Project Time</a:t>
            </a:r>
          </a:p>
        </p:txBody>
      </p:sp>
      <p:sp>
        <p:nvSpPr>
          <p:cNvPr id="3" name="Content Placeholder 2">
            <a:extLst>
              <a:ext uri="{FF2B5EF4-FFF2-40B4-BE49-F238E27FC236}">
                <a16:creationId xmlns:a16="http://schemas.microsoft.com/office/drawing/2014/main" id="{8B8914F9-8491-4F47-8365-38851B1350D7}"/>
              </a:ext>
            </a:extLst>
          </p:cNvPr>
          <p:cNvSpPr>
            <a:spLocks noGrp="1"/>
          </p:cNvSpPr>
          <p:nvPr>
            <p:ph idx="1"/>
          </p:nvPr>
        </p:nvSpPr>
        <p:spPr/>
        <p:txBody>
          <a:bodyPr>
            <a:normAutofit fontScale="85000" lnSpcReduction="20000"/>
          </a:bodyPr>
          <a:lstStyle/>
          <a:p>
            <a:r>
              <a:rPr lang="en-US" dirty="0"/>
              <a:t>Work on M2 </a:t>
            </a:r>
            <a:r>
              <a:rPr lang="en-GB" b="1" dirty="0"/>
              <a:t>More Detailed Requirements, Specs, Architecture, UI mock-ups and  Vertical SW prototype</a:t>
            </a:r>
            <a:r>
              <a:rPr lang="en-US" dirty="0"/>
              <a:t>. Two goals:</a:t>
            </a:r>
          </a:p>
          <a:p>
            <a:pPr lvl="1"/>
            <a:r>
              <a:rPr lang="en-US" b="1" i="1" dirty="0"/>
              <a:t>More detailed design - Milestone 2 document</a:t>
            </a:r>
            <a:r>
              <a:rPr lang="en-US" dirty="0"/>
              <a:t>: prioritize  requirements; design high level UI mockups and storyboards; design high level DB organization, and practice UML. </a:t>
            </a:r>
            <a:r>
              <a:rPr lang="en-US" i="1" dirty="0"/>
              <a:t>(one per team, submitted similarly like Milestone 1). </a:t>
            </a:r>
            <a:r>
              <a:rPr lang="en-US" dirty="0"/>
              <a:t>Use as much space as you need, but the expected length is about 20-25 pages.  You must submit </a:t>
            </a:r>
            <a:r>
              <a:rPr lang="en-US" u="sng" dirty="0"/>
              <a:t>all</a:t>
            </a:r>
            <a:r>
              <a:rPr lang="en-US" dirty="0"/>
              <a:t> sections.</a:t>
            </a:r>
          </a:p>
          <a:p>
            <a:pPr marL="1371600" lvl="2" indent="-457200">
              <a:buFont typeface="+mj-lt"/>
              <a:buAutoNum type="arabicPeriod"/>
            </a:pPr>
            <a:r>
              <a:rPr lang="en-US" b="1" dirty="0"/>
              <a:t>Functional Requirements – prioritized</a:t>
            </a:r>
          </a:p>
          <a:p>
            <a:pPr marL="1371600" lvl="2" indent="-457200">
              <a:buFont typeface="+mj-lt"/>
              <a:buAutoNum type="arabicPeriod"/>
            </a:pPr>
            <a:r>
              <a:rPr lang="en-US" b="1" u="sng" dirty="0"/>
              <a:t>UI Mockups and Storyboards (high level only)</a:t>
            </a:r>
          </a:p>
          <a:p>
            <a:pPr marL="1371600" lvl="2" indent="-457200">
              <a:buFont typeface="+mj-lt"/>
              <a:buAutoNum type="arabicPeriod"/>
            </a:pPr>
            <a:r>
              <a:rPr lang="en-US" b="1" dirty="0"/>
              <a:t>High level Architecture, Database Organization</a:t>
            </a:r>
          </a:p>
          <a:p>
            <a:pPr marL="1371600" lvl="2" indent="-457200">
              <a:buFont typeface="+mj-lt"/>
              <a:buAutoNum type="arabicPeriod"/>
            </a:pPr>
            <a:r>
              <a:rPr lang="en-US" b="1" dirty="0"/>
              <a:t>High Level UML Diagrams</a:t>
            </a:r>
          </a:p>
          <a:p>
            <a:pPr marL="1371600" lvl="2" indent="-457200">
              <a:buFont typeface="+mj-lt"/>
              <a:buAutoNum type="arabicPeriod"/>
            </a:pPr>
            <a:r>
              <a:rPr lang="en-US" b="1" u="sng" dirty="0"/>
              <a:t>Identify </a:t>
            </a:r>
            <a:r>
              <a:rPr lang="en-US" b="1" i="1" u="sng" dirty="0"/>
              <a:t>actual</a:t>
            </a:r>
            <a:r>
              <a:rPr lang="en-US" b="1" u="sng" dirty="0"/>
              <a:t> key risks for your project at this time</a:t>
            </a:r>
          </a:p>
          <a:p>
            <a:pPr marL="1371600" lvl="2" indent="-457200">
              <a:buFont typeface="+mj-lt"/>
              <a:buAutoNum type="arabicPeriod"/>
            </a:pPr>
            <a:r>
              <a:rPr lang="en-US" b="1" u="sng" dirty="0"/>
              <a:t>Project management</a:t>
            </a:r>
            <a:endParaRPr lang="en-US" dirty="0"/>
          </a:p>
          <a:p>
            <a:pPr lvl="1"/>
            <a:endParaRPr lang="en-US" i="1" dirty="0"/>
          </a:p>
          <a:p>
            <a:pPr lvl="1"/>
            <a:r>
              <a:rPr lang="en-US" b="1" i="1" dirty="0"/>
              <a:t>Vertical SW Prototype</a:t>
            </a:r>
            <a:r>
              <a:rPr lang="en-US" dirty="0"/>
              <a:t>: Develop first simple bare-bones prototype (from DB to browser)  to test the infrastructure, educate the team, resolve technical issues and also serve as basis of further development (must run on the deployment server). </a:t>
            </a:r>
            <a:r>
              <a:rPr lang="en-US" i="1" dirty="0"/>
              <a:t>(one per team) to be reviewed in class and also by Class CTO (off-line)  </a:t>
            </a:r>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638655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08EF-124D-4E7C-93FC-36C9B797B014}"/>
              </a:ext>
            </a:extLst>
          </p:cNvPr>
          <p:cNvSpPr>
            <a:spLocks noGrp="1"/>
          </p:cNvSpPr>
          <p:nvPr>
            <p:ph type="title"/>
          </p:nvPr>
        </p:nvSpPr>
        <p:spPr/>
        <p:txBody>
          <a:bodyPr/>
          <a:lstStyle/>
          <a:p>
            <a:r>
              <a:rPr lang="en-US" dirty="0"/>
              <a:t>M2</a:t>
            </a:r>
          </a:p>
        </p:txBody>
      </p:sp>
      <p:sp>
        <p:nvSpPr>
          <p:cNvPr id="3" name="Content Placeholder 2">
            <a:extLst>
              <a:ext uri="{FF2B5EF4-FFF2-40B4-BE49-F238E27FC236}">
                <a16:creationId xmlns:a16="http://schemas.microsoft.com/office/drawing/2014/main" id="{97D60288-23C9-41BD-9738-EDDC317A02EE}"/>
              </a:ext>
            </a:extLst>
          </p:cNvPr>
          <p:cNvSpPr>
            <a:spLocks noGrp="1"/>
          </p:cNvSpPr>
          <p:nvPr>
            <p:ph idx="1"/>
          </p:nvPr>
        </p:nvSpPr>
        <p:spPr/>
        <p:txBody>
          <a:bodyPr>
            <a:normAutofit fontScale="92500" lnSpcReduction="10000"/>
          </a:bodyPr>
          <a:lstStyle/>
          <a:p>
            <a:pPr lvl="0"/>
            <a:r>
              <a:rPr lang="en-US" b="1" dirty="0"/>
              <a:t>MILESTONE 2.</a:t>
            </a:r>
            <a:r>
              <a:rPr lang="en-US" dirty="0"/>
              <a:t> More Detailed Document. Make sure to read the instructions.</a:t>
            </a:r>
            <a:endParaRPr lang="en-US" sz="2400" dirty="0"/>
          </a:p>
          <a:p>
            <a:pPr lvl="1"/>
            <a:r>
              <a:rPr lang="en-US" dirty="0"/>
              <a:t>Functional Requirements – prioritized</a:t>
            </a:r>
            <a:endParaRPr lang="en-US" sz="2000" dirty="0"/>
          </a:p>
          <a:p>
            <a:pPr lvl="2"/>
            <a:r>
              <a:rPr lang="en-US" dirty="0"/>
              <a:t>Use M1 and </a:t>
            </a:r>
            <a:r>
              <a:rPr lang="en-US" b="1" dirty="0"/>
              <a:t>reference numbers</a:t>
            </a:r>
            <a:endParaRPr lang="en-US" sz="1800" dirty="0"/>
          </a:p>
          <a:p>
            <a:pPr lvl="2"/>
            <a:r>
              <a:rPr lang="en-US" b="1" dirty="0"/>
              <a:t>Prioritize </a:t>
            </a:r>
            <a:r>
              <a:rPr lang="en-US" dirty="0"/>
              <a:t>(1 must have, 2 desired, 3 Opportunistic)</a:t>
            </a:r>
            <a:endParaRPr lang="en-US" sz="1800" dirty="0"/>
          </a:p>
          <a:p>
            <a:pPr lvl="1"/>
            <a:r>
              <a:rPr lang="en-US" dirty="0"/>
              <a:t>UI Mockups and Storyboards (high level only). </a:t>
            </a:r>
            <a:endParaRPr lang="en-US" sz="2000" dirty="0"/>
          </a:p>
          <a:p>
            <a:pPr lvl="1"/>
            <a:r>
              <a:rPr lang="en-US" dirty="0"/>
              <a:t>High level Architecture, Database Organization</a:t>
            </a:r>
            <a:endParaRPr lang="en-US" sz="2000" dirty="0"/>
          </a:p>
          <a:p>
            <a:pPr lvl="1"/>
            <a:r>
              <a:rPr lang="en-US" dirty="0"/>
              <a:t>High Level UML Diagrams.</a:t>
            </a:r>
            <a:endParaRPr lang="en-US" sz="2000" dirty="0"/>
          </a:p>
          <a:p>
            <a:pPr lvl="2"/>
            <a:r>
              <a:rPr lang="en-US" dirty="0"/>
              <a:t>Use UML to describe your class diagrams classes of core functionality.</a:t>
            </a:r>
            <a:endParaRPr lang="en-US" sz="1800" dirty="0"/>
          </a:p>
          <a:p>
            <a:pPr lvl="1"/>
            <a:r>
              <a:rPr lang="en-US" dirty="0"/>
              <a:t>Identify actual key risks for your project at this time.</a:t>
            </a:r>
            <a:endParaRPr lang="en-US" sz="2000" dirty="0"/>
          </a:p>
          <a:p>
            <a:pPr lvl="2"/>
            <a:r>
              <a:rPr lang="en-US" dirty="0"/>
              <a:t>Brainstorm with your team and list your identified risks (skills, schedule, technical, etc.)</a:t>
            </a:r>
            <a:endParaRPr lang="en-US" sz="1800" dirty="0"/>
          </a:p>
          <a:p>
            <a:pPr lvl="1"/>
            <a:r>
              <a:rPr lang="en-US" dirty="0"/>
              <a:t>Project Management</a:t>
            </a:r>
            <a:endParaRPr lang="en-US" sz="2000" dirty="0"/>
          </a:p>
          <a:p>
            <a:pPr lvl="2"/>
            <a:r>
              <a:rPr lang="en-US" dirty="0"/>
              <a:t>Assign tasks and describe how your team is working together.</a:t>
            </a:r>
            <a:endParaRPr lang="en-US" sz="1800" dirty="0"/>
          </a:p>
          <a:p>
            <a:endParaRPr lang="en-US" dirty="0"/>
          </a:p>
        </p:txBody>
      </p:sp>
    </p:spTree>
    <p:extLst>
      <p:ext uri="{BB962C8B-B14F-4D97-AF65-F5344CB8AC3E}">
        <p14:creationId xmlns:p14="http://schemas.microsoft.com/office/powerpoint/2010/main" val="1217804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BEB1E-91BD-4616-A922-EECC1E76C4F1}"/>
              </a:ext>
            </a:extLst>
          </p:cNvPr>
          <p:cNvSpPr>
            <a:spLocks noGrp="1"/>
          </p:cNvSpPr>
          <p:nvPr>
            <p:ph type="title"/>
          </p:nvPr>
        </p:nvSpPr>
        <p:spPr/>
        <p:txBody>
          <a:bodyPr/>
          <a:lstStyle/>
          <a:p>
            <a:r>
              <a:rPr lang="en-US" dirty="0"/>
              <a:t>M2 – Vertical Prototype</a:t>
            </a:r>
          </a:p>
        </p:txBody>
      </p:sp>
      <p:sp>
        <p:nvSpPr>
          <p:cNvPr id="3" name="Content Placeholder 2">
            <a:extLst>
              <a:ext uri="{FF2B5EF4-FFF2-40B4-BE49-F238E27FC236}">
                <a16:creationId xmlns:a16="http://schemas.microsoft.com/office/drawing/2014/main" id="{0DD74AFF-F7F4-4171-929B-FCED1D65FD48}"/>
              </a:ext>
            </a:extLst>
          </p:cNvPr>
          <p:cNvSpPr>
            <a:spLocks noGrp="1"/>
          </p:cNvSpPr>
          <p:nvPr>
            <p:ph idx="1"/>
          </p:nvPr>
        </p:nvSpPr>
        <p:spPr/>
        <p:txBody>
          <a:bodyPr>
            <a:normAutofit fontScale="70000" lnSpcReduction="20000"/>
          </a:bodyPr>
          <a:lstStyle/>
          <a:p>
            <a:r>
              <a:rPr lang="en-US" dirty="0"/>
              <a:t>Vertical prototype [1] </a:t>
            </a:r>
            <a:r>
              <a:rPr lang="en-US" b="1" dirty="0"/>
              <a:t>shall allow one to enter a search term on </a:t>
            </a:r>
            <a:r>
              <a:rPr lang="en-US" b="1" i="1" dirty="0"/>
              <a:t>test home page</a:t>
            </a:r>
            <a:r>
              <a:rPr lang="en-US" b="1" dirty="0"/>
              <a:t> </a:t>
            </a:r>
            <a:r>
              <a:rPr lang="en-US" dirty="0"/>
              <a:t>(simple home page used to test vertical prototype), [2] </a:t>
            </a:r>
            <a:r>
              <a:rPr lang="en-US" b="1" dirty="0"/>
              <a:t>then get a response form the DB and render it back on the browser in a simple </a:t>
            </a:r>
            <a:r>
              <a:rPr lang="en-US" b="1" i="1" dirty="0"/>
              <a:t>test result page</a:t>
            </a:r>
            <a:r>
              <a:rPr lang="en-US" dirty="0"/>
              <a:t>. </a:t>
            </a:r>
          </a:p>
          <a:p>
            <a:pPr lvl="0"/>
            <a:r>
              <a:rPr lang="en-US" dirty="0"/>
              <a:t>UI for </a:t>
            </a:r>
            <a:r>
              <a:rPr lang="en-US" i="1" dirty="0"/>
              <a:t>the test home page</a:t>
            </a:r>
            <a:r>
              <a:rPr lang="en-US" dirty="0"/>
              <a:t> can be a simple one containing </a:t>
            </a:r>
          </a:p>
          <a:p>
            <a:pPr lvl="1"/>
            <a:r>
              <a:rPr lang="en-US" dirty="0"/>
              <a:t>Class, section and team identification </a:t>
            </a:r>
          </a:p>
          <a:p>
            <a:pPr lvl="1"/>
            <a:r>
              <a:rPr lang="en-US" dirty="0"/>
              <a:t>One free text entry field (this text is then used in SQL %LIKE search – check architecture)</a:t>
            </a:r>
          </a:p>
          <a:p>
            <a:pPr lvl="1"/>
            <a:r>
              <a:rPr lang="en-US" dirty="0"/>
              <a:t>One pull down for 2-3 search parameter (search category like student or professional, major, roommate gender, room rent, etc.) – this is exercised using simple SQL filter – see architecture slides </a:t>
            </a:r>
          </a:p>
          <a:p>
            <a:pPr lvl="0"/>
            <a:r>
              <a:rPr lang="en-US" i="1" dirty="0"/>
              <a:t>The test result page needs to display search results including images and later their thumbnails as well as profile videos (if implemented) in any reasonable layout (the goal here is to make sure you can access and display items and NOT the ultimate UI). Thumbnails need to be computed automatically using some open source thumbnail generation SW – you can do thumbnails later after you figure out the basic way to show </a:t>
            </a:r>
            <a:r>
              <a:rPr lang="en-US" i="1" dirty="0" err="1"/>
              <a:t>image</a:t>
            </a:r>
            <a:r>
              <a:rPr lang="en-US" dirty="0" err="1"/>
              <a:t>The</a:t>
            </a:r>
            <a:r>
              <a:rPr lang="en-US" dirty="0"/>
              <a:t> DB can have only a few items. The items in the DB shall be encoded with full schema as it is defined by now in M2 document</a:t>
            </a:r>
          </a:p>
          <a:p>
            <a:pPr lvl="0"/>
            <a:r>
              <a:rPr lang="en-US" dirty="0"/>
              <a:t>Make sure that if user hits “search” or related button, and does not enter any parameters, you display full list of items from the DB</a:t>
            </a:r>
          </a:p>
          <a:p>
            <a:pPr marL="0" indent="0">
              <a:buNone/>
            </a:pPr>
            <a:endParaRPr lang="en-US" dirty="0"/>
          </a:p>
        </p:txBody>
      </p:sp>
    </p:spTree>
    <p:extLst>
      <p:ext uri="{BB962C8B-B14F-4D97-AF65-F5344CB8AC3E}">
        <p14:creationId xmlns:p14="http://schemas.microsoft.com/office/powerpoint/2010/main" val="696038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1_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E9579EE155949A3D45379B5F7FB73" ma:contentTypeVersion="13" ma:contentTypeDescription="Create a new document." ma:contentTypeScope="" ma:versionID="2fd7dcbcf81788f702562900959088ac">
  <xsd:schema xmlns:xsd="http://www.w3.org/2001/XMLSchema" xmlns:xs="http://www.w3.org/2001/XMLSchema" xmlns:p="http://schemas.microsoft.com/office/2006/metadata/properties" xmlns:ns3="0597f708-a558-4606-a6e8-7ddca190439e" xmlns:ns4="b8e63e39-f833-47b9-ad6e-22f96850f752" targetNamespace="http://schemas.microsoft.com/office/2006/metadata/properties" ma:root="true" ma:fieldsID="c012cda0389216e894f9cf81375462a7" ns3:_="" ns4:_="">
    <xsd:import namespace="0597f708-a558-4606-a6e8-7ddca190439e"/>
    <xsd:import namespace="b8e63e39-f833-47b9-ad6e-22f96850f75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97f708-a558-4606-a6e8-7ddca190439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e63e39-f833-47b9-ad6e-22f96850f752"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b8e63e39-f833-47b9-ad6e-22f96850f75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E8AF88-A727-47B8-8518-FDFB6379CA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97f708-a558-4606-a6e8-7ddca190439e"/>
    <ds:schemaRef ds:uri="b8e63e39-f833-47b9-ad6e-22f96850f7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b8e63e39-f833-47b9-ad6e-22f96850f752"/>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2873</Words>
  <Application>Microsoft Office PowerPoint</Application>
  <PresentationFormat>Widescreen</PresentationFormat>
  <Paragraphs>292</Paragraphs>
  <Slides>26</Slides>
  <Notes>15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Arial</vt:lpstr>
      <vt:lpstr>Calibri</vt:lpstr>
      <vt:lpstr>Century Gothic</vt:lpstr>
      <vt:lpstr>Corbel</vt:lpstr>
      <vt:lpstr>Courier New</vt:lpstr>
      <vt:lpstr>Roboto</vt:lpstr>
      <vt:lpstr>Segoe UI Light</vt:lpstr>
      <vt:lpstr>Times New Roman</vt:lpstr>
      <vt:lpstr>Office Theme</vt:lpstr>
      <vt:lpstr>1_Office Theme</vt:lpstr>
      <vt:lpstr>Software Engineering CSC648/848</vt:lpstr>
      <vt:lpstr>Coding STYLE</vt:lpstr>
      <vt:lpstr>Objective</vt:lpstr>
      <vt:lpstr>PowerPoint Presentation</vt:lpstr>
      <vt:lpstr>PowerPoint Presentation</vt:lpstr>
      <vt:lpstr>Why coding style?</vt:lpstr>
      <vt:lpstr>SW Engineering Process Components (Lifecycle)</vt:lpstr>
      <vt:lpstr>SW Engineering Process Components (Lifecycle)</vt:lpstr>
      <vt:lpstr>Elements of coding style</vt:lpstr>
      <vt:lpstr>Benefits of good coding style</vt:lpstr>
      <vt:lpstr>Specific coding styles….</vt:lpstr>
      <vt:lpstr>Coding styles for Languages (examples)</vt:lpstr>
      <vt:lpstr>Naming conventions (examples)</vt:lpstr>
      <vt:lpstr>Code Style (Indentation, White Space, Capitalization, Style and Spelling, Use &amp; Style of Comments)</vt:lpstr>
      <vt:lpstr>Coding style for comments and documentation (examples)</vt:lpstr>
      <vt:lpstr>Tools for automatic documentation generation (examples)</vt:lpstr>
      <vt:lpstr>Doxygen - Documentation For Your Programs (Demo) </vt:lpstr>
      <vt:lpstr>PowerPoint Presentation</vt:lpstr>
      <vt:lpstr>Github documentation and comments</vt:lpstr>
      <vt:lpstr>Best Practices Coding Style for Security</vt:lpstr>
      <vt:lpstr>Forms and Inputs – one of the KEY security  issue on the WWW</vt:lpstr>
      <vt:lpstr>Coding in the AI era ~Henry’s POV</vt:lpstr>
      <vt:lpstr>Team Project Time</vt:lpstr>
      <vt:lpstr>M2</vt:lpstr>
      <vt:lpstr>M2 – Vertical Prototype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2020-03-09T02:22:01Z</dcterms:created>
  <dcterms:modified xsi:type="dcterms:W3CDTF">2026-03-11T03:05:51Z</dcterms:modified>
</cp:coreProperties>
</file>